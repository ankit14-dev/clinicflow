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7d3b3cc-4805-a65f-c80c-0283cec11734}">
          <p14:sldIdLst>
            <p14:sldId id="256"/>
            <p14:sldId id="257"/>
            <p14:sldId id="258"/>
          </p14:sldIdLst>
        </p14:section>
        <p14:section name="Architecture" id="{e8eb2936-8111-b3d1-5ac0-1540aaf7b83b}">
          <p14:sldIdLst>
            <p14:sldId id="259"/>
          </p14:sldIdLst>
        </p14:section>
        <p14:section name="Build &amp; test" id="{2972f4d0-00a7-ac74-c27d-3c68706f699a}">
          <p14:sldIdLst>
            <p14:sldId id="260"/>
            <p14:sldId id="261"/>
            <p14:sldId id="262"/>
          </p14:sldIdLst>
        </p14:section>
        <p14:section name="Delivery" id="{eebe7e67-2cf4-9382-52ab-4ff45e3553b3}">
          <p14:sldIdLst>
            <p14:sldId id="263"/>
            <p14:sldId id="264"/>
          </p14:sldIdLst>
        </p14:section>
        <p14:section name="Platform" id="{a85c3185-650b-473b-ed34-ab14ea4614f5}">
          <p14:sldIdLst>
            <p14:sldId id="265"/>
            <p14:sldId id="266"/>
            <p14:sldId id="267"/>
          </p14:sldIdLst>
        </p14:section>
        <p14:section name="Wrap-up" id="{40aa6ed1-832e-0c00-1abb-6107afed818e}">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B29"/>
                </a:solidFill>
                <a:latin typeface="+mn-lt"/>
              </a:defRPr>
            </a:pPr>
            <a:r>
              <a:rPr sz="1400" b="0" i="0" u="none" strike="noStrike">
                <a:solidFill>
                  <a:srgbClr val="0B2B29"/>
                </a:solidFill>
                <a:latin typeface="+mn-lt"/>
              </a:rPr>
              <a:t>Fixable HIGH/CRITICAL CVEs per image</a:t>
            </a:r>
          </a:p>
        </c:rich>
      </c:tx>
      <c:layout/>
      <c:overlay val="0"/>
    </c:title>
    <c:autoTitleDeleted val="0"/>
    <c:plotArea>
      <c:layout/>
      <c:barChart>
        <c:barDir val="col"/>
        <c:grouping val="clustered"/>
        <c:varyColors val="0"/>
        <c:ser>
          <c:idx val="0"/>
          <c:order val="0"/>
          <c:tx>
            <c:strRef>
              <c:f>Sheet1!$B$1</c:f>
              <c:strCache>
                <c:ptCount val="1"/>
                <c:pt idx="0">
                  <c:v>First scan</c:v>
                </c:pt>
              </c:strCache>
            </c:strRef>
          </c:tx>
          <c:spPr>
            <a:solidFill>
              <a:srgbClr val="B42318"/>
            </a:solidFill>
            <a:effectLst/>
          </c:spPr>
          <c:invertIfNegative val="0"/>
          <c:dLbls>
            <c:numFmt formatCode="#,##0" sourceLinked="0"/>
            <c:txPr>
              <a:bodyPr/>
              <a:lstStyle/>
              <a:p>
                <a:pPr>
                  <a:defRPr b="0" i="0" strike="noStrike" sz="1200" u="none">
                    <a:solidFill>
                      <a:srgbClr val="102A26"/>
                    </a:solidFill>
                    <a:latin typeface="+mn-lt"/>
                  </a:defRPr>
                </a:pPr>
              </a:p>
            </c:txPr>
            <c:showLegendKey val="0"/>
            <c:showVal val="1"/>
            <c:showCatName val="0"/>
            <c:showSerName val="0"/>
            <c:showPercent val="0"/>
            <c:showBubbleSize val="0"/>
            <c:showLeaderLines val="0"/>
          </c:dLbls>
          <c:cat>
            <c:multiLvlStrRef>
              <c:f>Sheet1!$A$2:$A$3</c:f>
              <c:multiLvlStrCache>
                <c:ptCount val="2"/>
                <c:lvl>
                  <c:pt idx="0">
                    <c:v>backend</c:v>
                  </c:pt>
                  <c:pt idx="1">
                    <c:v>frontend</c:v>
                  </c:pt>
                </c:lvl>
              </c:multiLvlStrCache>
            </c:multiLvlStrRef>
          </c:cat>
          <c:val>
            <c:numRef>
              <c:f>Sheet1!$B$2:$B$3</c:f>
              <c:numCache>
                <c:formatCode>General</c:formatCode>
                <c:ptCount val="2"/>
                <c:pt idx="0">
                  <c:v>4</c:v>
                </c:pt>
                <c:pt idx="1">
                  <c:v>43</c:v>
                </c:pt>
              </c:numCache>
            </c:numRef>
          </c:val>
        </c:ser>
        <c:ser>
          <c:idx val="1"/>
          <c:order val="1"/>
          <c:tx>
            <c:strRef>
              <c:f>Sheet1!$C$1</c:f>
              <c:strCache>
                <c:ptCount val="1"/>
                <c:pt idx="0">
                  <c:v>After fixes</c:v>
                </c:pt>
              </c:strCache>
            </c:strRef>
          </c:tx>
          <c:spPr>
            <a:solidFill>
              <a:srgbClr val="22C55E"/>
            </a:solidFill>
            <a:effectLst/>
          </c:spPr>
          <c:invertIfNegative val="0"/>
          <c:dLbls>
            <c:numFmt formatCode="#,##0" sourceLinked="0"/>
            <c:txPr>
              <a:bodyPr/>
              <a:lstStyle/>
              <a:p>
                <a:pPr>
                  <a:defRPr b="0" i="0" strike="noStrike" sz="1200" u="none">
                    <a:solidFill>
                      <a:srgbClr val="102A26"/>
                    </a:solidFill>
                    <a:latin typeface="+mn-lt"/>
                  </a:defRPr>
                </a:pPr>
              </a:p>
            </c:txPr>
            <c:showLegendKey val="0"/>
            <c:showVal val="1"/>
            <c:showCatName val="0"/>
            <c:showSerName val="0"/>
            <c:showPercent val="0"/>
            <c:showBubbleSize val="0"/>
            <c:showLeaderLines val="0"/>
          </c:dLbls>
          <c:cat>
            <c:multiLvlStrRef>
              <c:f>Sheet1!$A$2:$A$3</c:f>
              <c:multiLvlStrCache>
                <c:ptCount val="2"/>
                <c:lvl>
                  <c:pt idx="0">
                    <c:v>backend</c:v>
                  </c:pt>
                  <c:pt idx="1">
                    <c:v>frontend</c:v>
                  </c:pt>
                </c:lvl>
              </c:multiLvlStrCache>
            </c:multiLvlStrRef>
          </c:cat>
          <c:val>
            <c:numRef>
              <c:f>Sheet1!$C$2:$C$3</c:f>
              <c:numCache>
                <c:formatCode>General</c:formatCode>
                <c:ptCount val="2"/>
                <c:pt idx="0">
                  <c:v>0</c:v>
                </c:pt>
                <c:pt idx="1">
                  <c:v>0</c:v>
                </c:pt>
              </c:numCache>
            </c:numRef>
          </c:val>
        </c:ser>
        <c:dLbls>
          <c:numFmt formatCode="#,##0" sourceLinked="0"/>
          <c:txPr>
            <a:bodyPr/>
            <a:lstStyle/>
            <a:p>
              <a:pPr>
                <a:defRPr b="0" i="0" strike="noStrike" sz="1200" u="none">
                  <a:solidFill>
                    <a:srgbClr val="102A2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716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716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D716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Ankit Kumar. This is ClinicFlow, my DevOps capstone: a clinic appointment booking system, and the full delivery platform behind it — tests, containers, a secured CI/CD pipeline, Terraform-built AWS EKS, Helm, Argo CD GitOps, autoscaling and monitoring. 25 tests, an 8-job pipeline, 69 AWS resources managed as code, and zero fixable high or critical vulnerabilities in the shipped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my own domain — clinic appointments. A receptionist registers patients, books them with a doctor, checks them in and completes the visit. The API enforces real rules: no double booking of a doctor, appointments only in the future, and a strict status workflow. The dashboard works in the clinic's timezone, and the backend exposes health, readiness and Prometheus metrics, including business metrics like bookings per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layer by layer: React and Vite for the frontend, FastAPI with SQLAlchemy and Alembic for the backend, PostgreSQL for data. Everything is containerised with multi-stage, non-root images. GitHub Actions builds, tests and scans with Trivy and pushes to GitHub Container Registry. Terraform creates the AWS VPC and EKS cluster. On Kubernetes I use a Helm chart deployed by Argo CD, ingress-nginx and an autoscaler, and kube-prometheus-stack for Prometheus and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Top row is delivery: I push to GitHub, GitHub Actions tests, builds and scans the images, pushes them to GHCR tagged with the commit SHA, and finally commits that tag into a GitOps values file. Below is AWS, built by Terraform: a two-AZ VPC with an EKS cluster. Argo CD inside the cluster watches git and syncs the Helm chart. Users come in through an edge node running ingress-nginx, which routes slash to the React frontend and slash-api to the FastAPI backend; the backend uses PostgreSQL on an EBS volume, and Prometheus scrapes the backend's metrics for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a FastAPI service with resources for doctors, patients and appointments, plus stats for the dashboard, and the operational endpoints: health for liveness, ready which checks the database, and metrics. Business rules live in the API: a doctor can't be double-booked, appointments must be in the future, and status changes follow a state machine. The schema is managed by Alembic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the first gate. There are 25 pytest cases with 99 percent coverage, and CI fails below 90. In CI the tests run against a fresh PostgreSQL service container, so they never touch real data, and the job also lints with ruff and checks that the Alembic migrations apply cleanly and match the models. If a test fails, the pipeline stops before any image is built — so a broken build can never reach the registry or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use multi-stage builds. The backend builds a virtualenv in one stage and copies only that into a clean slim image; it runs as a non-root user and applies migrations before starting Uvicorn. The frontend is built with Node and served by unprivileged nginx, so no Node tooling ships to production. In Kubernetes the pods are hardened further: read-only root filesystem, all capabilities dropped, and the namespace enforces the restricted Pod Security standard. Locally the whole stack starts with one command: docker compose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eight jobs on every push to main. Tests, the frontend build and infrastructure validation run in parallel. Then both images are built and scanned by Trivy — a fixable high or critical vulnerability fails the job, so the image is never pushed. Clean images go to GHCR tagged with the commit SHA. A kind cluster installs the chart with those exact images and runs helm test. Then the pipeline promotes: it commits the new tag to git, and the verify job waits until Argo CD has rolled it out on EKS and smoke-tests it through the ingress. Every third-party action is pinned to a commit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 gate, not a report. The first Trivy scan found 4 high vulnerabilities in the backend and 43 in the frontend. The backend ones — in urllib3 and msgpack — were inside pip's own vendored libraries, which the application never uses, so I removed pip from the runtime image. The frontend ones came from an outdated nginx base image; the 1.30 stable base fixed all 43. Both images now pass with zero fixable high or critical findings. Trivy also uploads a full SARIF report to GitHub's Security tab, and there are more layers: npm audit, secret scanning, SHA-pinned actions, and OIDC instead of stored AWS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AWS infrastructure is Terraform, nothing clicked in the console. It creates a VPC across two availability zones with public and private subnets and a NAT gateway, an EKS 1.36 cluster with three t3.medium nodes in the private subnets, the EKS add-ons including the EBS CSI driver and metrics-server, and IAM: a role for the storage driver, and an OIDC provider so GitHub Actions can authenticate without stored keys. That's 69 resources at roughly 32 cents an hour, and a script tears everything down in the right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packaged as a Helm chart: backend and frontend deployments with health probes and zero-downtime rolling updates, PostgreSQL as a StatefulSet on a persistent volume, an Ingress that routes slash to the frontend and slash-api to the backend, an autoscaler, disruption budgets and the monitoring objects. On EKS the chart is deployed by Argo CD, which is GitOps: CI never touches the cluster. It commits the new image tag to git, Argo CD notices the commit, renders the chart and syncs the cluster. If someone changes something by hand, self-heal puts it back; a rollback is just a git revert.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observability, a ServiceMonitor tells Prometheus to scrape every backend pod's metrics endpoint, and the Grafana dashboard ships with the chart: traffic, latency percentiles, error ratio, business metrics like bookings per specialty, and the autoscaler's replica count. There are alert rules for the backend going down, high error rate, slow responses and restart loops. For autoscaling, the target is 60 percent CPU; under the load test on EKS the backend hit 388 percent and scaled from two to four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cloud work meant real problems. My AWS account isn't allowed to create load balancers, so I added a small edge node in a public subnet that runs the ingress controller. That node then refused to schedule it because the EKS Pod Identity agent claims port 80, so I excluded the agent from that node in Terraform. GitHub's OIDC tokens for this repo use the newer immutable subject format, so I updated the IAM trust policy. On the first deploy two backend replicas ran migrations at the same time and one crashed, so I added a PostgreSQL advisory lock. And I noticed PostgreSQL restarting on every deploy because of a version label, and fixed that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learned: gates belong before the registry, not after; readiness and liveness answer different questions and both shape a safe rollout; GitOps turns git into the audit trail, where every deploy is a commit and every rollback is a revert; and a real cloud account has limits that IAM can't solve, so you design around them in code. For production I'd move the database to RDS Multi-AZ, add TLS with a domain, a NAT gateway per AZ, single sign-on for Argo CD and remote Terraform state. Now let me show it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200400"/>
            <a:ext cx="10698480" cy="822960"/>
          </a:xfrm>
          <a:prstGeom prst="rect">
            <a:avLst/>
          </a:prstGeom>
          <a:noFill/>
          <a:ln/>
        </p:spPr>
        <p:txBody>
          <a:bodyPr wrap="square" rtlCol="0"/>
          <a:lstStyle>
            <a:lvl1pPr algn="l" indent="0" marL="0">
              <a:buNone/>
              <a:defRPr lang="en-US" sz="2200" dirty="0">
                <a:solidFill>
                  <a:srgbClr val="99F6E4"/>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rgbClr val="5D716D"/>
                </a:solidFill>
              </a:rPr>
              <a:t>ClinicFlow  ·  DevOps Capstone  ·  Ankit Kumar</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nchor="b"/>
          <a:lstStyle/>
          <a:p>
            <a:pPr algn="l" indent="0" marL="0">
              <a:buNone/>
            </a:pPr>
            <a:r>
              <a:rPr lang="en-US" sz="4800" b="1" dirty="0">
                <a:solidFill>
                  <a:schemeClr val="bg1"/>
                </a:solidFill>
              </a:rPr>
              <a:t>ClinicFlow</a:t>
            </a:r>
            <a:endParaRPr lang="en-US" sz="4800" dirty="0"/>
          </a:p>
        </p:txBody>
      </p:sp>
      <p:sp>
        <p:nvSpPr>
          <p:cNvPr id="3" name="Text 0"/>
          <p:cNvSpPr/>
          <p:nvPr>
            <p:ph idx="101" type="body" hasCustomPrompt="1"/>
          </p:nvPr>
        </p:nvSpPr>
        <p:spPr>
          <a:xfrm>
            <a:off x="731520" y="3200400"/>
            <a:ext cx="10698480" cy="822960"/>
          </a:xfrm>
          <a:prstGeom prst="rect">
            <a:avLst/>
          </a:prstGeom>
          <a:noFill/>
          <a:ln/>
        </p:spPr>
        <p:txBody>
          <a:bodyPr wrap="square" rtlCol="0" anchor="t"/>
          <a:lstStyle/>
          <a:p>
            <a:pPr algn="l" indent="0" marL="0">
              <a:buNone/>
            </a:pPr>
            <a:r>
              <a:rPr lang="en-US" sz="2200" dirty="0">
                <a:solidFill>
                  <a:srgbClr val="99F6E4"/>
                </a:solidFill>
              </a:rPr>
              <a:t>Clinic appointment booking — from a developer laptop to a monitored, GitOps-managed EKS cluster</a:t>
            </a:r>
            <a:endParaRPr lang="en-US" sz="2200" dirty="0"/>
          </a:p>
        </p:txBody>
      </p:sp>
      <p:sp>
        <p:nvSpPr>
          <p:cNvPr id="4" name="icon-circle"/>
          <p:cNvSpPr/>
          <p:nvPr/>
        </p:nvSpPr>
        <p:spPr>
          <a:xfrm>
            <a:off x="731520" y="731520"/>
            <a:ext cx="822960" cy="822960"/>
          </a:xfrm>
          <a:prstGeom prst="ellipse">
            <a:avLst/>
          </a:prstGeom>
          <a:solidFill>
            <a:schemeClr val="accent2"/>
          </a:solidFill>
          <a:ln w="12700">
            <a:solidFill>
              <a:schemeClr val="accent2"/>
            </a:solidFill>
            <a:prstDash val="solid"/>
          </a:ln>
        </p:spPr>
      </p:sp>
      <p:pic>
        <p:nvPicPr>
          <p:cNvPr id="5" name="icon" descr="preencoded.png">    </p:cNvPr>
          <p:cNvPicPr>
            <a:picLocks noChangeAspect="1"/>
          </p:cNvPicPr>
          <p:nvPr/>
        </p:nvPicPr>
        <p:blipFill>
          <a:blip r:embed="rId1"/>
          <a:stretch>
            <a:fillRect/>
          </a:stretch>
        </p:blipFill>
        <p:spPr>
          <a:xfrm>
            <a:off x="929030" y="929030"/>
            <a:ext cx="427939" cy="427939"/>
          </a:xfrm>
          <a:prstGeom prst="rect">
            <a:avLst/>
          </a:prstGeom>
        </p:spPr>
      </p:pic>
      <p:sp>
        <p:nvSpPr>
          <p:cNvPr id="6" name="Text 3"/>
          <p:cNvSpPr txBox="1"/>
          <p:nvPr/>
        </p:nvSpPr>
        <p:spPr>
          <a:xfrm>
            <a:off x="731520" y="4572000"/>
            <a:ext cx="2468880" cy="731520"/>
          </a:xfrm>
          <a:prstGeom prst="rect">
            <a:avLst/>
          </a:prstGeom>
          <a:noFill/>
          <a:ln/>
        </p:spPr>
        <p:txBody>
          <a:bodyPr wrap="square" lIns="0" tIns="0" rIns="0" bIns="0" rtlCol="0" anchor="t"/>
          <a:lstStyle/>
          <a:p>
            <a:pPr indent="0" marL="0">
              <a:buNone/>
            </a:pPr>
            <a:r>
              <a:rPr lang="en-US" sz="4000" b="1" dirty="0">
                <a:solidFill>
                  <a:schemeClr val="accent2"/>
                </a:solidFill>
              </a:rPr>
              <a:t>25</a:t>
            </a:r>
            <a:endParaRPr lang="en-US" sz="4000" dirty="0"/>
          </a:p>
        </p:txBody>
      </p:sp>
      <p:sp>
        <p:nvSpPr>
          <p:cNvPr id="7" name="Text 4"/>
          <p:cNvSpPr txBox="1"/>
          <p:nvPr/>
        </p:nvSpPr>
        <p:spPr>
          <a:xfrm>
            <a:off x="731520" y="5303520"/>
            <a:ext cx="2468880" cy="457200"/>
          </a:xfrm>
          <a:prstGeom prst="rect">
            <a:avLst/>
          </a:prstGeom>
          <a:noFill/>
          <a:ln/>
        </p:spPr>
        <p:txBody>
          <a:bodyPr wrap="square" lIns="0" tIns="0" rIns="0" bIns="0" rtlCol="0" anchor="t"/>
          <a:lstStyle/>
          <a:p>
            <a:pPr indent="0" marL="0">
              <a:buNone/>
            </a:pPr>
            <a:r>
              <a:rPr lang="en-US" sz="1400" dirty="0">
                <a:solidFill>
                  <a:srgbClr val="B9D4CF"/>
                </a:solidFill>
              </a:rPr>
              <a:t>automated tests</a:t>
            </a:r>
            <a:endParaRPr lang="en-US" sz="1400" dirty="0"/>
          </a:p>
        </p:txBody>
      </p:sp>
      <p:sp>
        <p:nvSpPr>
          <p:cNvPr id="8" name="Text 5"/>
          <p:cNvSpPr txBox="1"/>
          <p:nvPr/>
        </p:nvSpPr>
        <p:spPr>
          <a:xfrm>
            <a:off x="3429000" y="4572000"/>
            <a:ext cx="2468880" cy="731520"/>
          </a:xfrm>
          <a:prstGeom prst="rect">
            <a:avLst/>
          </a:prstGeom>
          <a:noFill/>
          <a:ln/>
        </p:spPr>
        <p:txBody>
          <a:bodyPr wrap="square" lIns="0" tIns="0" rIns="0" bIns="0" rtlCol="0" anchor="t"/>
          <a:lstStyle/>
          <a:p>
            <a:pPr indent="0" marL="0">
              <a:buNone/>
            </a:pPr>
            <a:r>
              <a:rPr lang="en-US" sz="4000" b="1" dirty="0">
                <a:solidFill>
                  <a:schemeClr val="accent2"/>
                </a:solidFill>
              </a:rPr>
              <a:t>8</a:t>
            </a:r>
            <a:endParaRPr lang="en-US" sz="4000" dirty="0"/>
          </a:p>
        </p:txBody>
      </p:sp>
      <p:sp>
        <p:nvSpPr>
          <p:cNvPr id="9" name="Text 6"/>
          <p:cNvSpPr txBox="1"/>
          <p:nvPr/>
        </p:nvSpPr>
        <p:spPr>
          <a:xfrm>
            <a:off x="3429000" y="5303520"/>
            <a:ext cx="2468880" cy="457200"/>
          </a:xfrm>
          <a:prstGeom prst="rect">
            <a:avLst/>
          </a:prstGeom>
          <a:noFill/>
          <a:ln/>
        </p:spPr>
        <p:txBody>
          <a:bodyPr wrap="square" lIns="0" tIns="0" rIns="0" bIns="0" rtlCol="0" anchor="t"/>
          <a:lstStyle/>
          <a:p>
            <a:pPr indent="0" marL="0">
              <a:buNone/>
            </a:pPr>
            <a:r>
              <a:rPr lang="en-US" sz="1400" dirty="0">
                <a:solidFill>
                  <a:srgbClr val="B9D4CF"/>
                </a:solidFill>
              </a:rPr>
              <a:t>pipeline jobs</a:t>
            </a:r>
            <a:endParaRPr lang="en-US" sz="1400" dirty="0"/>
          </a:p>
        </p:txBody>
      </p:sp>
      <p:sp>
        <p:nvSpPr>
          <p:cNvPr id="10" name="Text 7"/>
          <p:cNvSpPr txBox="1"/>
          <p:nvPr/>
        </p:nvSpPr>
        <p:spPr>
          <a:xfrm>
            <a:off x="6126480" y="4572000"/>
            <a:ext cx="2468880" cy="731520"/>
          </a:xfrm>
          <a:prstGeom prst="rect">
            <a:avLst/>
          </a:prstGeom>
          <a:noFill/>
          <a:ln/>
        </p:spPr>
        <p:txBody>
          <a:bodyPr wrap="square" lIns="0" tIns="0" rIns="0" bIns="0" rtlCol="0" anchor="t"/>
          <a:lstStyle/>
          <a:p>
            <a:pPr indent="0" marL="0">
              <a:buNone/>
            </a:pPr>
            <a:r>
              <a:rPr lang="en-US" sz="4000" b="1" dirty="0">
                <a:solidFill>
                  <a:schemeClr val="accent2"/>
                </a:solidFill>
              </a:rPr>
              <a:t>69</a:t>
            </a:r>
            <a:endParaRPr lang="en-US" sz="4000" dirty="0"/>
          </a:p>
        </p:txBody>
      </p:sp>
      <p:sp>
        <p:nvSpPr>
          <p:cNvPr id="11" name="Text 8"/>
          <p:cNvSpPr txBox="1"/>
          <p:nvPr/>
        </p:nvSpPr>
        <p:spPr>
          <a:xfrm>
            <a:off x="6126480" y="5303520"/>
            <a:ext cx="2468880" cy="457200"/>
          </a:xfrm>
          <a:prstGeom prst="rect">
            <a:avLst/>
          </a:prstGeom>
          <a:noFill/>
          <a:ln/>
        </p:spPr>
        <p:txBody>
          <a:bodyPr wrap="square" lIns="0" tIns="0" rIns="0" bIns="0" rtlCol="0" anchor="t"/>
          <a:lstStyle/>
          <a:p>
            <a:pPr indent="0" marL="0">
              <a:buNone/>
            </a:pPr>
            <a:r>
              <a:rPr lang="en-US" sz="1400" dirty="0">
                <a:solidFill>
                  <a:srgbClr val="B9D4CF"/>
                </a:solidFill>
              </a:rPr>
              <a:t>AWS resources in Terraform</a:t>
            </a:r>
            <a:endParaRPr lang="en-US" sz="1400" dirty="0"/>
          </a:p>
        </p:txBody>
      </p:sp>
      <p:sp>
        <p:nvSpPr>
          <p:cNvPr id="12" name="Text 9"/>
          <p:cNvSpPr txBox="1"/>
          <p:nvPr/>
        </p:nvSpPr>
        <p:spPr>
          <a:xfrm>
            <a:off x="8823960" y="4572000"/>
            <a:ext cx="2468880" cy="731520"/>
          </a:xfrm>
          <a:prstGeom prst="rect">
            <a:avLst/>
          </a:prstGeom>
          <a:noFill/>
          <a:ln/>
        </p:spPr>
        <p:txBody>
          <a:bodyPr wrap="square" lIns="0" tIns="0" rIns="0" bIns="0" rtlCol="0" anchor="t"/>
          <a:lstStyle/>
          <a:p>
            <a:pPr indent="0" marL="0">
              <a:buNone/>
            </a:pPr>
            <a:r>
              <a:rPr lang="en-US" sz="4000" b="1" dirty="0">
                <a:solidFill>
                  <a:schemeClr val="accent2"/>
                </a:solidFill>
              </a:rPr>
              <a:t>0</a:t>
            </a:r>
            <a:endParaRPr lang="en-US" sz="4000" dirty="0"/>
          </a:p>
        </p:txBody>
      </p:sp>
      <p:sp>
        <p:nvSpPr>
          <p:cNvPr id="13" name="Text 10"/>
          <p:cNvSpPr txBox="1"/>
          <p:nvPr/>
        </p:nvSpPr>
        <p:spPr>
          <a:xfrm>
            <a:off x="8823960" y="5303520"/>
            <a:ext cx="2468880" cy="457200"/>
          </a:xfrm>
          <a:prstGeom prst="rect">
            <a:avLst/>
          </a:prstGeom>
          <a:noFill/>
          <a:ln/>
        </p:spPr>
        <p:txBody>
          <a:bodyPr wrap="square" lIns="0" tIns="0" rIns="0" bIns="0" rtlCol="0" anchor="t"/>
          <a:lstStyle/>
          <a:p>
            <a:pPr indent="0" marL="0">
              <a:buNone/>
            </a:pPr>
            <a:r>
              <a:rPr lang="en-US" sz="1400" dirty="0">
                <a:solidFill>
                  <a:srgbClr val="B9D4CF"/>
                </a:solidFill>
              </a:rPr>
              <a:t>fixable HIGH/CRITICAL CVEs</a:t>
            </a:r>
            <a:endParaRPr lang="en-US" sz="1400" dirty="0"/>
          </a:p>
        </p:txBody>
      </p:sp>
      <p:sp>
        <p:nvSpPr>
          <p:cNvPr id="14" name="Text 11"/>
          <p:cNvSpPr txBox="1"/>
          <p:nvPr/>
        </p:nvSpPr>
        <p:spPr>
          <a:xfrm>
            <a:off x="731520" y="6172200"/>
            <a:ext cx="10698480" cy="320040"/>
          </a:xfrm>
          <a:prstGeom prst="rect">
            <a:avLst/>
          </a:prstGeom>
          <a:noFill/>
          <a:ln/>
        </p:spPr>
        <p:txBody>
          <a:bodyPr wrap="square" lIns="0" tIns="0" rIns="0" bIns="0" rtlCol="0" anchor="t"/>
          <a:lstStyle/>
          <a:p>
            <a:pPr indent="0" marL="0">
              <a:buNone/>
            </a:pPr>
            <a:r>
              <a:rPr lang="en-US" sz="1200" dirty="0">
                <a:solidFill>
                  <a:srgbClr val="B9D4CF"/>
                </a:solidFill>
              </a:rPr>
              <a:t>Ankit Kumar  ·  DevOps Heroes — Session 21 Final Capstone  ·  github.com/ankit14-dev/clinicflow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What ClinicFlow does</a:t>
            </a:r>
            <a:endParaRPr lang="en-US" sz="3600" dirty="0"/>
          </a:p>
        </p:txBody>
      </p:sp>
      <p:sp>
        <p:nvSpPr>
          <p:cNvPr id="3" name="Text 1"/>
          <p:cNvSpPr txBox="1"/>
          <p:nvPr/>
        </p:nvSpPr>
        <p:spPr>
          <a:xfrm>
            <a:off x="548640" y="1234440"/>
            <a:ext cx="11064240" cy="685800"/>
          </a:xfrm>
          <a:prstGeom prst="rect">
            <a:avLst/>
          </a:prstGeom>
          <a:noFill/>
          <a:ln/>
        </p:spPr>
        <p:txBody>
          <a:bodyPr wrap="square" lIns="0" tIns="0" rIns="0" bIns="0" rtlCol="0" anchor="t"/>
          <a:lstStyle/>
          <a:p>
            <a:pPr indent="0" marL="0">
              <a:buNone/>
            </a:pPr>
            <a:r>
              <a:rPr lang="en-US" sz="1700" dirty="0">
                <a:solidFill>
                  <a:srgbClr val="5D716D"/>
                </a:solidFill>
              </a:rPr>
              <a:t>The front-desk system of a small multi-specialty clinic: receptionists register patients, book them with a doctor, check them in on arrival and close the visit.</a:t>
            </a:r>
            <a:endParaRPr lang="en-US" sz="1700" dirty="0"/>
          </a:p>
        </p:txBody>
      </p:sp>
      <p:sp>
        <p:nvSpPr>
          <p:cNvPr id="4" name="card"/>
          <p:cNvSpPr/>
          <p:nvPr/>
        </p:nvSpPr>
        <p:spPr>
          <a:xfrm>
            <a:off x="548640" y="219456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icon-circle"/>
          <p:cNvSpPr/>
          <p:nvPr/>
        </p:nvSpPr>
        <p:spPr>
          <a:xfrm>
            <a:off x="822960" y="2468880"/>
            <a:ext cx="566928" cy="566928"/>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959023" y="2604943"/>
            <a:ext cx="294803" cy="294803"/>
          </a:xfrm>
          <a:prstGeom prst="rect">
            <a:avLst/>
          </a:prstGeom>
        </p:spPr>
      </p:pic>
      <p:sp>
        <p:nvSpPr>
          <p:cNvPr id="7" name="Text 4"/>
          <p:cNvSpPr txBox="1"/>
          <p:nvPr/>
        </p:nvSpPr>
        <p:spPr>
          <a:xfrm>
            <a:off x="822960" y="3246120"/>
            <a:ext cx="2103120" cy="411480"/>
          </a:xfrm>
          <a:prstGeom prst="rect">
            <a:avLst/>
          </a:prstGeom>
          <a:noFill/>
          <a:ln/>
        </p:spPr>
        <p:txBody>
          <a:bodyPr wrap="square" lIns="0" tIns="0" rIns="0" bIns="0" rtlCol="0" anchor="t"/>
          <a:lstStyle/>
          <a:p>
            <a:pPr indent="0" marL="0">
              <a:buNone/>
            </a:pPr>
            <a:r>
              <a:rPr lang="en-US" sz="1900" b="1" dirty="0">
                <a:solidFill>
                  <a:schemeClr val="tx2"/>
                </a:solidFill>
              </a:rPr>
              <a:t>Safe booking</a:t>
            </a:r>
            <a:endParaRPr lang="en-US" sz="1900" dirty="0"/>
          </a:p>
        </p:txBody>
      </p:sp>
      <p:sp>
        <p:nvSpPr>
          <p:cNvPr id="8" name="Text 5"/>
          <p:cNvSpPr txBox="1"/>
          <p:nvPr/>
        </p:nvSpPr>
        <p:spPr>
          <a:xfrm>
            <a:off x="822960" y="3749040"/>
            <a:ext cx="2103120" cy="1828800"/>
          </a:xfrm>
          <a:prstGeom prst="rect">
            <a:avLst/>
          </a:prstGeom>
          <a:noFill/>
          <a:ln/>
        </p:spPr>
        <p:txBody>
          <a:bodyPr wrap="square" lIns="0" tIns="0" rIns="0" bIns="0" rtlCol="0" anchor="t"/>
          <a:lstStyle/>
          <a:p>
            <a:pPr indent="0" marL="0">
              <a:buNone/>
            </a:pPr>
            <a:r>
              <a:rPr lang="en-US" sz="1400" dirty="0">
                <a:solidFill>
                  <a:schemeClr val="tx1"/>
                </a:solidFill>
              </a:rPr>
              <a:t>Overlap check per doctor — a double booking is rejected with HTTP 409; only future slots</a:t>
            </a:r>
            <a:endParaRPr lang="en-US" sz="1400" dirty="0"/>
          </a:p>
        </p:txBody>
      </p:sp>
      <p:sp>
        <p:nvSpPr>
          <p:cNvPr id="9" name="card"/>
          <p:cNvSpPr/>
          <p:nvPr/>
        </p:nvSpPr>
        <p:spPr>
          <a:xfrm>
            <a:off x="3383280" y="219456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icon-circle"/>
          <p:cNvSpPr/>
          <p:nvPr/>
        </p:nvSpPr>
        <p:spPr>
          <a:xfrm>
            <a:off x="3657600" y="2468880"/>
            <a:ext cx="566928" cy="566928"/>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3793663" y="2604943"/>
            <a:ext cx="294803" cy="294803"/>
          </a:xfrm>
          <a:prstGeom prst="rect">
            <a:avLst/>
          </a:prstGeom>
        </p:spPr>
      </p:pic>
      <p:sp>
        <p:nvSpPr>
          <p:cNvPr id="12" name="Text 8"/>
          <p:cNvSpPr txBox="1"/>
          <p:nvPr/>
        </p:nvSpPr>
        <p:spPr>
          <a:xfrm>
            <a:off x="3657600" y="3246120"/>
            <a:ext cx="2103120" cy="411480"/>
          </a:xfrm>
          <a:prstGeom prst="rect">
            <a:avLst/>
          </a:prstGeom>
          <a:noFill/>
          <a:ln/>
        </p:spPr>
        <p:txBody>
          <a:bodyPr wrap="square" lIns="0" tIns="0" rIns="0" bIns="0" rtlCol="0" anchor="t"/>
          <a:lstStyle/>
          <a:p>
            <a:pPr indent="0" marL="0">
              <a:buNone/>
            </a:pPr>
            <a:r>
              <a:rPr lang="en-US" sz="1900" b="1" dirty="0">
                <a:solidFill>
                  <a:schemeClr val="tx2"/>
                </a:solidFill>
              </a:rPr>
              <a:t>Front-desk workflow</a:t>
            </a:r>
            <a:endParaRPr lang="en-US" sz="1900" dirty="0"/>
          </a:p>
        </p:txBody>
      </p:sp>
      <p:sp>
        <p:nvSpPr>
          <p:cNvPr id="13" name="Text 9"/>
          <p:cNvSpPr txBox="1"/>
          <p:nvPr/>
        </p:nvSpPr>
        <p:spPr>
          <a:xfrm>
            <a:off x="3657600" y="3749040"/>
            <a:ext cx="2103120" cy="1828800"/>
          </a:xfrm>
          <a:prstGeom prst="rect">
            <a:avLst/>
          </a:prstGeom>
          <a:noFill/>
          <a:ln/>
        </p:spPr>
        <p:txBody>
          <a:bodyPr wrap="square" lIns="0" tIns="0" rIns="0" bIns="0" rtlCol="0" anchor="t"/>
          <a:lstStyle/>
          <a:p>
            <a:pPr indent="0" marL="0">
              <a:buNone/>
            </a:pPr>
            <a:r>
              <a:rPr lang="en-US" sz="1400" dirty="0">
                <a:solidFill>
                  <a:schemeClr val="tx1"/>
                </a:solidFill>
              </a:rPr>
              <a:t>SCHEDULED → CHECKED_IN → COMPLETED, or CANCELLED / NO_SHOW — invalid jumps are refused</a:t>
            </a:r>
            <a:endParaRPr lang="en-US" sz="1400" dirty="0"/>
          </a:p>
        </p:txBody>
      </p:sp>
      <p:sp>
        <p:nvSpPr>
          <p:cNvPr id="14" name="card"/>
          <p:cNvSpPr/>
          <p:nvPr/>
        </p:nvSpPr>
        <p:spPr>
          <a:xfrm>
            <a:off x="6217920" y="219456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icon-circle"/>
          <p:cNvSpPr/>
          <p:nvPr/>
        </p:nvSpPr>
        <p:spPr>
          <a:xfrm>
            <a:off x="6492240" y="2468880"/>
            <a:ext cx="566928" cy="566928"/>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3"/>
          <a:stretch>
            <a:fillRect/>
          </a:stretch>
        </p:blipFill>
        <p:spPr>
          <a:xfrm>
            <a:off x="6628303" y="2604943"/>
            <a:ext cx="294803" cy="294803"/>
          </a:xfrm>
          <a:prstGeom prst="rect">
            <a:avLst/>
          </a:prstGeom>
        </p:spPr>
      </p:pic>
      <p:sp>
        <p:nvSpPr>
          <p:cNvPr id="17" name="Text 12"/>
          <p:cNvSpPr txBox="1"/>
          <p:nvPr/>
        </p:nvSpPr>
        <p:spPr>
          <a:xfrm>
            <a:off x="6492240" y="3246120"/>
            <a:ext cx="2103120" cy="411480"/>
          </a:xfrm>
          <a:prstGeom prst="rect">
            <a:avLst/>
          </a:prstGeom>
          <a:noFill/>
          <a:ln/>
        </p:spPr>
        <p:txBody>
          <a:bodyPr wrap="square" lIns="0" tIns="0" rIns="0" bIns="0" rtlCol="0" anchor="t"/>
          <a:lstStyle/>
          <a:p>
            <a:pPr indent="0" marL="0">
              <a:buNone/>
            </a:pPr>
            <a:r>
              <a:rPr lang="en-US" sz="1900" b="1" dirty="0">
                <a:solidFill>
                  <a:schemeClr val="tx2"/>
                </a:solidFill>
              </a:rPr>
              <a:t>Live dashboard</a:t>
            </a:r>
            <a:endParaRPr lang="en-US" sz="1900" dirty="0"/>
          </a:p>
        </p:txBody>
      </p:sp>
      <p:sp>
        <p:nvSpPr>
          <p:cNvPr id="18" name="Text 13"/>
          <p:cNvSpPr txBox="1"/>
          <p:nvPr/>
        </p:nvSpPr>
        <p:spPr>
          <a:xfrm>
            <a:off x="6492240" y="3749040"/>
            <a:ext cx="2103120" cy="1828800"/>
          </a:xfrm>
          <a:prstGeom prst="rect">
            <a:avLst/>
          </a:prstGeom>
          <a:noFill/>
          <a:ln/>
        </p:spPr>
        <p:txBody>
          <a:bodyPr wrap="square" lIns="0" tIns="0" rIns="0" bIns="0" rtlCol="0" anchor="t"/>
          <a:lstStyle/>
          <a:p>
            <a:pPr indent="0" marL="0">
              <a:buNone/>
            </a:pPr>
            <a:r>
              <a:rPr lang="en-US" sz="1400" dirty="0">
                <a:solidFill>
                  <a:schemeClr val="tx1"/>
                </a:solidFill>
              </a:rPr>
              <a:t>Today's schedule, waiting room, upcoming visits and load per specialty, in clinic time (IST)</a:t>
            </a:r>
            <a:endParaRPr lang="en-US" sz="1400" dirty="0"/>
          </a:p>
        </p:txBody>
      </p:sp>
      <p:sp>
        <p:nvSpPr>
          <p:cNvPr id="19" name="card"/>
          <p:cNvSpPr/>
          <p:nvPr/>
        </p:nvSpPr>
        <p:spPr>
          <a:xfrm>
            <a:off x="9052560" y="219456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icon-circle"/>
          <p:cNvSpPr/>
          <p:nvPr/>
        </p:nvSpPr>
        <p:spPr>
          <a:xfrm>
            <a:off x="9326880" y="2468880"/>
            <a:ext cx="566928" cy="566928"/>
          </a:xfrm>
          <a:prstGeom prst="ellipse">
            <a:avLst/>
          </a:prstGeom>
          <a:solidFill>
            <a:schemeClr val="accent1"/>
          </a:solidFill>
          <a:ln w="12700">
            <a:solidFill>
              <a:schemeClr val="accent1"/>
            </a:solidFill>
            <a:prstDash val="solid"/>
          </a:ln>
        </p:spPr>
      </p:sp>
      <p:pic>
        <p:nvPicPr>
          <p:cNvPr id="21" name="icon" descr="preencoded.png">    </p:cNvPr>
          <p:cNvPicPr>
            <a:picLocks noChangeAspect="1"/>
          </p:cNvPicPr>
          <p:nvPr/>
        </p:nvPicPr>
        <p:blipFill>
          <a:blip r:embed="rId4"/>
          <a:stretch>
            <a:fillRect/>
          </a:stretch>
        </p:blipFill>
        <p:spPr>
          <a:xfrm>
            <a:off x="9462943" y="2604943"/>
            <a:ext cx="294803" cy="294803"/>
          </a:xfrm>
          <a:prstGeom prst="rect">
            <a:avLst/>
          </a:prstGeom>
        </p:spPr>
      </p:pic>
      <p:sp>
        <p:nvSpPr>
          <p:cNvPr id="22" name="Text 16"/>
          <p:cNvSpPr txBox="1"/>
          <p:nvPr/>
        </p:nvSpPr>
        <p:spPr>
          <a:xfrm>
            <a:off x="9326880" y="3246120"/>
            <a:ext cx="2103120" cy="411480"/>
          </a:xfrm>
          <a:prstGeom prst="rect">
            <a:avLst/>
          </a:prstGeom>
          <a:noFill/>
          <a:ln/>
        </p:spPr>
        <p:txBody>
          <a:bodyPr wrap="square" lIns="0" tIns="0" rIns="0" bIns="0" rtlCol="0" anchor="t"/>
          <a:lstStyle/>
          <a:p>
            <a:pPr indent="0" marL="0">
              <a:buNone/>
            </a:pPr>
            <a:r>
              <a:rPr lang="en-US" sz="1900" b="1" dirty="0">
                <a:solidFill>
                  <a:schemeClr val="tx2"/>
                </a:solidFill>
              </a:rPr>
              <a:t>Observable</a:t>
            </a:r>
            <a:endParaRPr lang="en-US" sz="1900" dirty="0"/>
          </a:p>
        </p:txBody>
      </p:sp>
      <p:sp>
        <p:nvSpPr>
          <p:cNvPr id="23" name="Text 17"/>
          <p:cNvSpPr txBox="1"/>
          <p:nvPr/>
        </p:nvSpPr>
        <p:spPr>
          <a:xfrm>
            <a:off x="9326880" y="3749040"/>
            <a:ext cx="2103120" cy="1828800"/>
          </a:xfrm>
          <a:prstGeom prst="rect">
            <a:avLst/>
          </a:prstGeom>
          <a:noFill/>
          <a:ln/>
        </p:spPr>
        <p:txBody>
          <a:bodyPr wrap="square" lIns="0" tIns="0" rIns="0" bIns="0" rtlCol="0" anchor="t"/>
          <a:lstStyle/>
          <a:p>
            <a:pPr indent="0" marL="0">
              <a:buNone/>
            </a:pPr>
            <a:r>
              <a:rPr lang="en-US" sz="1400" dirty="0">
                <a:solidFill>
                  <a:schemeClr val="tx1"/>
                </a:solidFill>
              </a:rPr>
              <a:t>/health, /ready and /metrics, plus business counters such as bookings per specialty</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Tech stack</a:t>
            </a:r>
            <a:endParaRPr lang="en-US" sz="3600" dirty="0"/>
          </a:p>
        </p:txBody>
      </p:sp>
      <p:sp>
        <p:nvSpPr>
          <p:cNvPr id="3" name="icon-circle"/>
          <p:cNvSpPr/>
          <p:nvPr/>
        </p:nvSpPr>
        <p:spPr>
          <a:xfrm>
            <a:off x="548640" y="1399032"/>
            <a:ext cx="640080" cy="640080"/>
          </a:xfrm>
          <a:prstGeom prst="ellipse">
            <a:avLst/>
          </a:prstGeom>
          <a:solidFill>
            <a:schemeClr val="accent1"/>
          </a:solidFill>
          <a:ln w="12700">
            <a:solidFill>
              <a:schemeClr val="accent1"/>
            </a:solidFill>
            <a:prstDash val="solid"/>
          </a:ln>
        </p:spPr>
      </p:sp>
      <p:pic>
        <p:nvPicPr>
          <p:cNvPr id="4" name="icon" descr="preencoded.png">    </p:cNvPr>
          <p:cNvPicPr>
            <a:picLocks noChangeAspect="1"/>
          </p:cNvPicPr>
          <p:nvPr/>
        </p:nvPicPr>
        <p:blipFill>
          <a:blip r:embed="rId1"/>
          <a:stretch>
            <a:fillRect/>
          </a:stretch>
        </p:blipFill>
        <p:spPr>
          <a:xfrm>
            <a:off x="702259" y="1552651"/>
            <a:ext cx="332842" cy="332842"/>
          </a:xfrm>
          <a:prstGeom prst="rect">
            <a:avLst/>
          </a:prstGeom>
        </p:spPr>
      </p:pic>
      <p:sp>
        <p:nvSpPr>
          <p:cNvPr id="5" name="Text 2"/>
          <p:cNvSpPr txBox="1"/>
          <p:nvPr/>
        </p:nvSpPr>
        <p:spPr>
          <a:xfrm>
            <a:off x="1417320" y="1325880"/>
            <a:ext cx="4480560" cy="365760"/>
          </a:xfrm>
          <a:prstGeom prst="rect">
            <a:avLst/>
          </a:prstGeom>
          <a:noFill/>
          <a:ln/>
        </p:spPr>
        <p:txBody>
          <a:bodyPr wrap="square" lIns="0" tIns="0" rIns="0" bIns="0" rtlCol="0" anchor="t"/>
          <a:lstStyle/>
          <a:p>
            <a:pPr indent="0" marL="0">
              <a:buNone/>
            </a:pPr>
            <a:r>
              <a:rPr lang="en-US" sz="1800" b="1" dirty="0">
                <a:solidFill>
                  <a:schemeClr val="tx2"/>
                </a:solidFill>
              </a:rPr>
              <a:t>Frontend</a:t>
            </a:r>
            <a:endParaRPr lang="en-US" sz="1800" dirty="0"/>
          </a:p>
        </p:txBody>
      </p:sp>
      <p:sp>
        <p:nvSpPr>
          <p:cNvPr id="6" name="Text 3"/>
          <p:cNvSpPr txBox="1"/>
          <p:nvPr/>
        </p:nvSpPr>
        <p:spPr>
          <a:xfrm>
            <a:off x="1417320" y="1709928"/>
            <a:ext cx="4480560" cy="640080"/>
          </a:xfrm>
          <a:prstGeom prst="rect">
            <a:avLst/>
          </a:prstGeom>
          <a:noFill/>
          <a:ln/>
        </p:spPr>
        <p:txBody>
          <a:bodyPr wrap="square" lIns="0" tIns="0" rIns="0" bIns="0" rtlCol="0" anchor="t"/>
          <a:lstStyle/>
          <a:p>
            <a:pPr indent="0" marL="0">
              <a:buNone/>
            </a:pPr>
            <a:r>
              <a:rPr lang="en-US" sz="1400" dirty="0">
                <a:solidFill>
                  <a:srgbClr val="5D716D"/>
                </a:solidFill>
              </a:rPr>
              <a:t>React 19 + Vite 8, responsive CSS, served by unprivileged nginx</a:t>
            </a:r>
            <a:endParaRPr lang="en-US" sz="1400" dirty="0"/>
          </a:p>
        </p:txBody>
      </p:sp>
      <p:sp>
        <p:nvSpPr>
          <p:cNvPr id="7" name="icon-circle"/>
          <p:cNvSpPr/>
          <p:nvPr/>
        </p:nvSpPr>
        <p:spPr>
          <a:xfrm>
            <a:off x="6172200" y="1399032"/>
            <a:ext cx="640080" cy="640080"/>
          </a:xfrm>
          <a:prstGeom prst="ellipse">
            <a:avLst/>
          </a:prstGeom>
          <a:solidFill>
            <a:schemeClr val="accent1"/>
          </a:solidFill>
          <a:ln w="12700">
            <a:solidFill>
              <a:schemeClr val="accent1"/>
            </a:solidFill>
            <a:prstDash val="solid"/>
          </a:ln>
        </p:spPr>
      </p:sp>
      <p:pic>
        <p:nvPicPr>
          <p:cNvPr id="8" name="icon" descr="preencoded.png">    </p:cNvPr>
          <p:cNvPicPr>
            <a:picLocks noChangeAspect="1"/>
          </p:cNvPicPr>
          <p:nvPr/>
        </p:nvPicPr>
        <p:blipFill>
          <a:blip r:embed="rId2"/>
          <a:stretch>
            <a:fillRect/>
          </a:stretch>
        </p:blipFill>
        <p:spPr>
          <a:xfrm>
            <a:off x="6325819" y="1552651"/>
            <a:ext cx="332842" cy="332842"/>
          </a:xfrm>
          <a:prstGeom prst="rect">
            <a:avLst/>
          </a:prstGeom>
        </p:spPr>
      </p:pic>
      <p:sp>
        <p:nvSpPr>
          <p:cNvPr id="9" name="Text 5"/>
          <p:cNvSpPr txBox="1"/>
          <p:nvPr/>
        </p:nvSpPr>
        <p:spPr>
          <a:xfrm>
            <a:off x="7040880" y="1325880"/>
            <a:ext cx="4480560" cy="365760"/>
          </a:xfrm>
          <a:prstGeom prst="rect">
            <a:avLst/>
          </a:prstGeom>
          <a:noFill/>
          <a:ln/>
        </p:spPr>
        <p:txBody>
          <a:bodyPr wrap="square" lIns="0" tIns="0" rIns="0" bIns="0" rtlCol="0" anchor="t"/>
          <a:lstStyle/>
          <a:p>
            <a:pPr indent="0" marL="0">
              <a:buNone/>
            </a:pPr>
            <a:r>
              <a:rPr lang="en-US" sz="1800" b="1" dirty="0">
                <a:solidFill>
                  <a:schemeClr val="tx2"/>
                </a:solidFill>
              </a:rPr>
              <a:t>Backend</a:t>
            </a:r>
            <a:endParaRPr lang="en-US" sz="1800" dirty="0"/>
          </a:p>
        </p:txBody>
      </p:sp>
      <p:sp>
        <p:nvSpPr>
          <p:cNvPr id="10" name="Text 6"/>
          <p:cNvSpPr txBox="1"/>
          <p:nvPr/>
        </p:nvSpPr>
        <p:spPr>
          <a:xfrm>
            <a:off x="7040880" y="1709928"/>
            <a:ext cx="4480560" cy="640080"/>
          </a:xfrm>
          <a:prstGeom prst="rect">
            <a:avLst/>
          </a:prstGeom>
          <a:noFill/>
          <a:ln/>
        </p:spPr>
        <p:txBody>
          <a:bodyPr wrap="square" lIns="0" tIns="0" rIns="0" bIns="0" rtlCol="0" anchor="t"/>
          <a:lstStyle/>
          <a:p>
            <a:pPr indent="0" marL="0">
              <a:buNone/>
            </a:pPr>
            <a:r>
              <a:rPr lang="en-US" sz="1400" dirty="0">
                <a:solidFill>
                  <a:srgbClr val="5D716D"/>
                </a:solidFill>
              </a:rPr>
              <a:t>FastAPI, SQLAlchemy 2, Pydantic 2, Alembic migrations</a:t>
            </a:r>
            <a:endParaRPr lang="en-US" sz="1400" dirty="0"/>
          </a:p>
        </p:txBody>
      </p:sp>
      <p:sp>
        <p:nvSpPr>
          <p:cNvPr id="11" name="icon-circle"/>
          <p:cNvSpPr/>
          <p:nvPr/>
        </p:nvSpPr>
        <p:spPr>
          <a:xfrm>
            <a:off x="548640" y="2633472"/>
            <a:ext cx="640080" cy="640080"/>
          </a:xfrm>
          <a:prstGeom prst="ellipse">
            <a:avLst/>
          </a:prstGeom>
          <a:solidFill>
            <a:schemeClr val="accent1"/>
          </a:solidFill>
          <a:ln w="12700">
            <a:solidFill>
              <a:schemeClr val="accent1"/>
            </a:solidFill>
            <a:prstDash val="solid"/>
          </a:ln>
        </p:spPr>
      </p:sp>
      <p:pic>
        <p:nvPicPr>
          <p:cNvPr id="12" name="icon" descr="preencoded.png">    </p:cNvPr>
          <p:cNvPicPr>
            <a:picLocks noChangeAspect="1"/>
          </p:cNvPicPr>
          <p:nvPr/>
        </p:nvPicPr>
        <p:blipFill>
          <a:blip r:embed="rId3"/>
          <a:stretch>
            <a:fillRect/>
          </a:stretch>
        </p:blipFill>
        <p:spPr>
          <a:xfrm>
            <a:off x="702259" y="2787091"/>
            <a:ext cx="332842" cy="332842"/>
          </a:xfrm>
          <a:prstGeom prst="rect">
            <a:avLst/>
          </a:prstGeom>
        </p:spPr>
      </p:pic>
      <p:sp>
        <p:nvSpPr>
          <p:cNvPr id="13" name="Text 8"/>
          <p:cNvSpPr txBox="1"/>
          <p:nvPr/>
        </p:nvSpPr>
        <p:spPr>
          <a:xfrm>
            <a:off x="1417320" y="2560320"/>
            <a:ext cx="4480560" cy="365760"/>
          </a:xfrm>
          <a:prstGeom prst="rect">
            <a:avLst/>
          </a:prstGeom>
          <a:noFill/>
          <a:ln/>
        </p:spPr>
        <p:txBody>
          <a:bodyPr wrap="square" lIns="0" tIns="0" rIns="0" bIns="0" rtlCol="0" anchor="t"/>
          <a:lstStyle/>
          <a:p>
            <a:pPr indent="0" marL="0">
              <a:buNone/>
            </a:pPr>
            <a:r>
              <a:rPr lang="en-US" sz="1800" b="1" dirty="0">
                <a:solidFill>
                  <a:schemeClr val="tx2"/>
                </a:solidFill>
              </a:rPr>
              <a:t>Data</a:t>
            </a:r>
            <a:endParaRPr lang="en-US" sz="1800" dirty="0"/>
          </a:p>
        </p:txBody>
      </p:sp>
      <p:sp>
        <p:nvSpPr>
          <p:cNvPr id="14" name="Text 9"/>
          <p:cNvSpPr txBox="1"/>
          <p:nvPr/>
        </p:nvSpPr>
        <p:spPr>
          <a:xfrm>
            <a:off x="1417320" y="2944368"/>
            <a:ext cx="4480560" cy="640080"/>
          </a:xfrm>
          <a:prstGeom prst="rect">
            <a:avLst/>
          </a:prstGeom>
          <a:noFill/>
          <a:ln/>
        </p:spPr>
        <p:txBody>
          <a:bodyPr wrap="square" lIns="0" tIns="0" rIns="0" bIns="0" rtlCol="0" anchor="t"/>
          <a:lstStyle/>
          <a:p>
            <a:pPr indent="0" marL="0">
              <a:buNone/>
            </a:pPr>
            <a:r>
              <a:rPr lang="en-US" sz="1400" dirty="0">
                <a:solidFill>
                  <a:srgbClr val="5D716D"/>
                </a:solidFill>
              </a:rPr>
              <a:t>PostgreSQL 17 — StatefulSet on EBS gp3 in the cluster</a:t>
            </a:r>
            <a:endParaRPr lang="en-US" sz="1400" dirty="0"/>
          </a:p>
        </p:txBody>
      </p:sp>
      <p:sp>
        <p:nvSpPr>
          <p:cNvPr id="15" name="icon-circle"/>
          <p:cNvSpPr/>
          <p:nvPr/>
        </p:nvSpPr>
        <p:spPr>
          <a:xfrm>
            <a:off x="6172200" y="2633472"/>
            <a:ext cx="640080" cy="64008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4"/>
          <a:stretch>
            <a:fillRect/>
          </a:stretch>
        </p:blipFill>
        <p:spPr>
          <a:xfrm>
            <a:off x="6325819" y="2787091"/>
            <a:ext cx="332842" cy="332842"/>
          </a:xfrm>
          <a:prstGeom prst="rect">
            <a:avLst/>
          </a:prstGeom>
        </p:spPr>
      </p:pic>
      <p:sp>
        <p:nvSpPr>
          <p:cNvPr id="17" name="Text 11"/>
          <p:cNvSpPr txBox="1"/>
          <p:nvPr/>
        </p:nvSpPr>
        <p:spPr>
          <a:xfrm>
            <a:off x="7040880" y="2560320"/>
            <a:ext cx="4480560" cy="365760"/>
          </a:xfrm>
          <a:prstGeom prst="rect">
            <a:avLst/>
          </a:prstGeom>
          <a:noFill/>
          <a:ln/>
        </p:spPr>
        <p:txBody>
          <a:bodyPr wrap="square" lIns="0" tIns="0" rIns="0" bIns="0" rtlCol="0" anchor="t"/>
          <a:lstStyle/>
          <a:p>
            <a:pPr indent="0" marL="0">
              <a:buNone/>
            </a:pPr>
            <a:r>
              <a:rPr lang="en-US" sz="1800" b="1" dirty="0">
                <a:solidFill>
                  <a:schemeClr val="tx2"/>
                </a:solidFill>
              </a:rPr>
              <a:t>Containers</a:t>
            </a:r>
            <a:endParaRPr lang="en-US" sz="1800" dirty="0"/>
          </a:p>
        </p:txBody>
      </p:sp>
      <p:sp>
        <p:nvSpPr>
          <p:cNvPr id="18" name="Text 12"/>
          <p:cNvSpPr txBox="1"/>
          <p:nvPr/>
        </p:nvSpPr>
        <p:spPr>
          <a:xfrm>
            <a:off x="7040880" y="2944368"/>
            <a:ext cx="4480560" cy="640080"/>
          </a:xfrm>
          <a:prstGeom prst="rect">
            <a:avLst/>
          </a:prstGeom>
          <a:noFill/>
          <a:ln/>
        </p:spPr>
        <p:txBody>
          <a:bodyPr wrap="square" lIns="0" tIns="0" rIns="0" bIns="0" rtlCol="0" anchor="t"/>
          <a:lstStyle/>
          <a:p>
            <a:pPr indent="0" marL="0">
              <a:buNone/>
            </a:pPr>
            <a:r>
              <a:rPr lang="en-US" sz="1400" dirty="0">
                <a:solidFill>
                  <a:srgbClr val="5D716D"/>
                </a:solidFill>
              </a:rPr>
              <a:t>Multi-stage Docker builds, non-root, Docker Compose locally</a:t>
            </a:r>
            <a:endParaRPr lang="en-US" sz="1400" dirty="0"/>
          </a:p>
        </p:txBody>
      </p:sp>
      <p:sp>
        <p:nvSpPr>
          <p:cNvPr id="19" name="icon-circle"/>
          <p:cNvSpPr/>
          <p:nvPr/>
        </p:nvSpPr>
        <p:spPr>
          <a:xfrm>
            <a:off x="548640" y="3867912"/>
            <a:ext cx="640080" cy="64008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5"/>
          <a:stretch>
            <a:fillRect/>
          </a:stretch>
        </p:blipFill>
        <p:spPr>
          <a:xfrm>
            <a:off x="702259" y="4021531"/>
            <a:ext cx="332842" cy="332842"/>
          </a:xfrm>
          <a:prstGeom prst="rect">
            <a:avLst/>
          </a:prstGeom>
        </p:spPr>
      </p:pic>
      <p:sp>
        <p:nvSpPr>
          <p:cNvPr id="21" name="Text 14"/>
          <p:cNvSpPr txBox="1"/>
          <p:nvPr/>
        </p:nvSpPr>
        <p:spPr>
          <a:xfrm>
            <a:off x="1417320" y="3794760"/>
            <a:ext cx="4480560" cy="365760"/>
          </a:xfrm>
          <a:prstGeom prst="rect">
            <a:avLst/>
          </a:prstGeom>
          <a:noFill/>
          <a:ln/>
        </p:spPr>
        <p:txBody>
          <a:bodyPr wrap="square" lIns="0" tIns="0" rIns="0" bIns="0" rtlCol="0" anchor="t"/>
          <a:lstStyle/>
          <a:p>
            <a:pPr indent="0" marL="0">
              <a:buNone/>
            </a:pPr>
            <a:r>
              <a:rPr lang="en-US" sz="1800" b="1" dirty="0">
                <a:solidFill>
                  <a:schemeClr val="tx2"/>
                </a:solidFill>
              </a:rPr>
              <a:t>CI/CD &amp; security</a:t>
            </a:r>
            <a:endParaRPr lang="en-US" sz="1800" dirty="0"/>
          </a:p>
        </p:txBody>
      </p:sp>
      <p:sp>
        <p:nvSpPr>
          <p:cNvPr id="22" name="Text 15"/>
          <p:cNvSpPr txBox="1"/>
          <p:nvPr/>
        </p:nvSpPr>
        <p:spPr>
          <a:xfrm>
            <a:off x="1417320" y="4178808"/>
            <a:ext cx="4480560" cy="640080"/>
          </a:xfrm>
          <a:prstGeom prst="rect">
            <a:avLst/>
          </a:prstGeom>
          <a:noFill/>
          <a:ln/>
        </p:spPr>
        <p:txBody>
          <a:bodyPr wrap="square" lIns="0" tIns="0" rIns="0" bIns="0" rtlCol="0" anchor="t"/>
          <a:lstStyle/>
          <a:p>
            <a:pPr indent="0" marL="0">
              <a:buNone/>
            </a:pPr>
            <a:r>
              <a:rPr lang="en-US" sz="1400" dirty="0">
                <a:solidFill>
                  <a:srgbClr val="5D716D"/>
                </a:solidFill>
              </a:rPr>
              <a:t>GitHub Actions, Trivy, GHCR, kind, Dependabot, OIDC to AWS</a:t>
            </a:r>
            <a:endParaRPr lang="en-US" sz="1400" dirty="0"/>
          </a:p>
        </p:txBody>
      </p:sp>
      <p:sp>
        <p:nvSpPr>
          <p:cNvPr id="23" name="icon-circle"/>
          <p:cNvSpPr/>
          <p:nvPr/>
        </p:nvSpPr>
        <p:spPr>
          <a:xfrm>
            <a:off x="6172200" y="3867912"/>
            <a:ext cx="640080" cy="640080"/>
          </a:xfrm>
          <a:prstGeom prst="ellipse">
            <a:avLst/>
          </a:prstGeom>
          <a:solidFill>
            <a:schemeClr val="accent1"/>
          </a:solidFill>
          <a:ln w="12700">
            <a:solidFill>
              <a:schemeClr val="accent1"/>
            </a:solidFill>
            <a:prstDash val="solid"/>
          </a:ln>
        </p:spPr>
      </p:sp>
      <p:pic>
        <p:nvPicPr>
          <p:cNvPr id="24" name="icon" descr="preencoded.png">    </p:cNvPr>
          <p:cNvPicPr>
            <a:picLocks noChangeAspect="1"/>
          </p:cNvPicPr>
          <p:nvPr/>
        </p:nvPicPr>
        <p:blipFill>
          <a:blip r:embed="rId6"/>
          <a:stretch>
            <a:fillRect/>
          </a:stretch>
        </p:blipFill>
        <p:spPr>
          <a:xfrm>
            <a:off x="6325819" y="4021531"/>
            <a:ext cx="332842" cy="332842"/>
          </a:xfrm>
          <a:prstGeom prst="rect">
            <a:avLst/>
          </a:prstGeom>
        </p:spPr>
      </p:pic>
      <p:sp>
        <p:nvSpPr>
          <p:cNvPr id="25" name="Text 17"/>
          <p:cNvSpPr txBox="1"/>
          <p:nvPr/>
        </p:nvSpPr>
        <p:spPr>
          <a:xfrm>
            <a:off x="7040880" y="3794760"/>
            <a:ext cx="4480560" cy="365760"/>
          </a:xfrm>
          <a:prstGeom prst="rect">
            <a:avLst/>
          </a:prstGeom>
          <a:noFill/>
          <a:ln/>
        </p:spPr>
        <p:txBody>
          <a:bodyPr wrap="square" lIns="0" tIns="0" rIns="0" bIns="0" rtlCol="0" anchor="t"/>
          <a:lstStyle/>
          <a:p>
            <a:pPr indent="0" marL="0">
              <a:buNone/>
            </a:pPr>
            <a:r>
              <a:rPr lang="en-US" sz="1800" b="1" dirty="0">
                <a:solidFill>
                  <a:schemeClr val="tx2"/>
                </a:solidFill>
              </a:rPr>
              <a:t>Cloud &amp; IaC</a:t>
            </a:r>
            <a:endParaRPr lang="en-US" sz="1800" dirty="0"/>
          </a:p>
        </p:txBody>
      </p:sp>
      <p:sp>
        <p:nvSpPr>
          <p:cNvPr id="26" name="Text 18"/>
          <p:cNvSpPr txBox="1"/>
          <p:nvPr/>
        </p:nvSpPr>
        <p:spPr>
          <a:xfrm>
            <a:off x="7040880" y="4178808"/>
            <a:ext cx="4480560" cy="640080"/>
          </a:xfrm>
          <a:prstGeom prst="rect">
            <a:avLst/>
          </a:prstGeom>
          <a:noFill/>
          <a:ln/>
        </p:spPr>
        <p:txBody>
          <a:bodyPr wrap="square" lIns="0" tIns="0" rIns="0" bIns="0" rtlCol="0" anchor="t"/>
          <a:lstStyle/>
          <a:p>
            <a:pPr indent="0" marL="0">
              <a:buNone/>
            </a:pPr>
            <a:r>
              <a:rPr lang="en-US" sz="1400" dirty="0">
                <a:solidFill>
                  <a:srgbClr val="5D716D"/>
                </a:solidFill>
              </a:rPr>
              <a:t>Terraform: VPC + EKS 1.36 in ap-south-1, IAM, EBS CSI</a:t>
            </a:r>
            <a:endParaRPr lang="en-US" sz="1400" dirty="0"/>
          </a:p>
        </p:txBody>
      </p:sp>
      <p:sp>
        <p:nvSpPr>
          <p:cNvPr id="27" name="icon-circle"/>
          <p:cNvSpPr/>
          <p:nvPr/>
        </p:nvSpPr>
        <p:spPr>
          <a:xfrm>
            <a:off x="548640" y="5102352"/>
            <a:ext cx="640080" cy="640080"/>
          </a:xfrm>
          <a:prstGeom prst="ellipse">
            <a:avLst/>
          </a:prstGeom>
          <a:solidFill>
            <a:schemeClr val="accent1"/>
          </a:solidFill>
          <a:ln w="12700">
            <a:solidFill>
              <a:schemeClr val="accent1"/>
            </a:solidFill>
            <a:prstDash val="solid"/>
          </a:ln>
        </p:spPr>
      </p:sp>
      <p:pic>
        <p:nvPicPr>
          <p:cNvPr id="28" name="icon" descr="preencoded.png">    </p:cNvPr>
          <p:cNvPicPr>
            <a:picLocks noChangeAspect="1"/>
          </p:cNvPicPr>
          <p:nvPr/>
        </p:nvPicPr>
        <p:blipFill>
          <a:blip r:embed="rId7"/>
          <a:stretch>
            <a:fillRect/>
          </a:stretch>
        </p:blipFill>
        <p:spPr>
          <a:xfrm>
            <a:off x="702259" y="5255971"/>
            <a:ext cx="332842" cy="332842"/>
          </a:xfrm>
          <a:prstGeom prst="rect">
            <a:avLst/>
          </a:prstGeom>
        </p:spPr>
      </p:pic>
      <p:sp>
        <p:nvSpPr>
          <p:cNvPr id="29" name="Text 20"/>
          <p:cNvSpPr txBox="1"/>
          <p:nvPr/>
        </p:nvSpPr>
        <p:spPr>
          <a:xfrm>
            <a:off x="1417320" y="5029200"/>
            <a:ext cx="4480560" cy="365760"/>
          </a:xfrm>
          <a:prstGeom prst="rect">
            <a:avLst/>
          </a:prstGeom>
          <a:noFill/>
          <a:ln/>
        </p:spPr>
        <p:txBody>
          <a:bodyPr wrap="square" lIns="0" tIns="0" rIns="0" bIns="0" rtlCol="0" anchor="t"/>
          <a:lstStyle/>
          <a:p>
            <a:pPr indent="0" marL="0">
              <a:buNone/>
            </a:pPr>
            <a:r>
              <a:rPr lang="en-US" sz="1800" b="1" dirty="0">
                <a:solidFill>
                  <a:schemeClr val="tx2"/>
                </a:solidFill>
              </a:rPr>
              <a:t>Kubernetes &amp; GitOps</a:t>
            </a:r>
            <a:endParaRPr lang="en-US" sz="1800" dirty="0"/>
          </a:p>
        </p:txBody>
      </p:sp>
      <p:sp>
        <p:nvSpPr>
          <p:cNvPr id="30" name="Text 21"/>
          <p:cNvSpPr txBox="1"/>
          <p:nvPr/>
        </p:nvSpPr>
        <p:spPr>
          <a:xfrm>
            <a:off x="1417320" y="5413248"/>
            <a:ext cx="4480560" cy="640080"/>
          </a:xfrm>
          <a:prstGeom prst="rect">
            <a:avLst/>
          </a:prstGeom>
          <a:noFill/>
          <a:ln/>
        </p:spPr>
        <p:txBody>
          <a:bodyPr wrap="square" lIns="0" tIns="0" rIns="0" bIns="0" rtlCol="0" anchor="t"/>
          <a:lstStyle/>
          <a:p>
            <a:pPr indent="0" marL="0">
              <a:buNone/>
            </a:pPr>
            <a:r>
              <a:rPr lang="en-US" sz="1400" dirty="0">
                <a:solidFill>
                  <a:srgbClr val="5D716D"/>
                </a:solidFill>
              </a:rPr>
              <a:t>Helm chart, ingress-nginx, HPA, PDBs, Argo CD</a:t>
            </a:r>
            <a:endParaRPr lang="en-US" sz="1400" dirty="0"/>
          </a:p>
        </p:txBody>
      </p:sp>
      <p:sp>
        <p:nvSpPr>
          <p:cNvPr id="31" name="icon-circle"/>
          <p:cNvSpPr/>
          <p:nvPr/>
        </p:nvSpPr>
        <p:spPr>
          <a:xfrm>
            <a:off x="6172200" y="5102352"/>
            <a:ext cx="640080" cy="640080"/>
          </a:xfrm>
          <a:prstGeom prst="ellipse">
            <a:avLst/>
          </a:prstGeom>
          <a:solidFill>
            <a:schemeClr val="accent1"/>
          </a:solidFill>
          <a:ln w="12700">
            <a:solidFill>
              <a:schemeClr val="accent1"/>
            </a:solidFill>
            <a:prstDash val="solid"/>
          </a:ln>
        </p:spPr>
      </p:sp>
      <p:pic>
        <p:nvPicPr>
          <p:cNvPr id="32" name="icon" descr="preencoded.png">    </p:cNvPr>
          <p:cNvPicPr>
            <a:picLocks noChangeAspect="1"/>
          </p:cNvPicPr>
          <p:nvPr/>
        </p:nvPicPr>
        <p:blipFill>
          <a:blip r:embed="rId8"/>
          <a:stretch>
            <a:fillRect/>
          </a:stretch>
        </p:blipFill>
        <p:spPr>
          <a:xfrm>
            <a:off x="6325819" y="5255971"/>
            <a:ext cx="332842" cy="332842"/>
          </a:xfrm>
          <a:prstGeom prst="rect">
            <a:avLst/>
          </a:prstGeom>
        </p:spPr>
      </p:pic>
      <p:sp>
        <p:nvSpPr>
          <p:cNvPr id="33" name="Text 23"/>
          <p:cNvSpPr txBox="1"/>
          <p:nvPr/>
        </p:nvSpPr>
        <p:spPr>
          <a:xfrm>
            <a:off x="7040880" y="5029200"/>
            <a:ext cx="4480560" cy="365760"/>
          </a:xfrm>
          <a:prstGeom prst="rect">
            <a:avLst/>
          </a:prstGeom>
          <a:noFill/>
          <a:ln/>
        </p:spPr>
        <p:txBody>
          <a:bodyPr wrap="square" lIns="0" tIns="0" rIns="0" bIns="0" rtlCol="0" anchor="t"/>
          <a:lstStyle/>
          <a:p>
            <a:pPr indent="0" marL="0">
              <a:buNone/>
            </a:pPr>
            <a:r>
              <a:rPr lang="en-US" sz="1800" b="1" dirty="0">
                <a:solidFill>
                  <a:schemeClr val="tx2"/>
                </a:solidFill>
              </a:rPr>
              <a:t>Observability</a:t>
            </a:r>
            <a:endParaRPr lang="en-US" sz="1800" dirty="0"/>
          </a:p>
        </p:txBody>
      </p:sp>
      <p:sp>
        <p:nvSpPr>
          <p:cNvPr id="34" name="Text 24"/>
          <p:cNvSpPr txBox="1"/>
          <p:nvPr/>
        </p:nvSpPr>
        <p:spPr>
          <a:xfrm>
            <a:off x="7040880" y="5413248"/>
            <a:ext cx="4480560" cy="640080"/>
          </a:xfrm>
          <a:prstGeom prst="rect">
            <a:avLst/>
          </a:prstGeom>
          <a:noFill/>
          <a:ln/>
        </p:spPr>
        <p:txBody>
          <a:bodyPr wrap="square" lIns="0" tIns="0" rIns="0" bIns="0" rtlCol="0" anchor="t"/>
          <a:lstStyle/>
          <a:p>
            <a:pPr indent="0" marL="0">
              <a:buNone/>
            </a:pPr>
            <a:r>
              <a:rPr lang="en-US" sz="1400" dirty="0">
                <a:solidFill>
                  <a:srgbClr val="5D716D"/>
                </a:solidFill>
              </a:rPr>
              <a:t>kube-prometheus-stack: Prometheus, Grafana, alert rules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Architecture</a:t>
            </a:r>
            <a:endParaRPr lang="en-US" sz="3600" dirty="0"/>
          </a:p>
        </p:txBody>
      </p:sp>
      <p:sp>
        <p:nvSpPr>
          <p:cNvPr id="3" name="arch-box"/>
          <p:cNvSpPr/>
          <p:nvPr/>
        </p:nvSpPr>
        <p:spPr>
          <a:xfrm>
            <a:off x="548640" y="1371600"/>
            <a:ext cx="1371600" cy="685800"/>
          </a:xfrm>
          <a:prstGeom prst="roundRect">
            <a:avLst>
              <a:gd name="adj" fmla="val 10667"/>
            </a:avLst>
          </a:prstGeom>
          <a:solidFill>
            <a:schemeClr val="tx2"/>
          </a:solidFill>
          <a:ln w="12700">
            <a:solidFill>
              <a:schemeClr val="tx2"/>
            </a:solidFill>
            <a:prstDash val="solid"/>
          </a:ln>
        </p:spPr>
      </p:sp>
      <p:sp>
        <p:nvSpPr>
          <p:cNvPr id="4" name="Text 2"/>
          <p:cNvSpPr txBox="1"/>
          <p:nvPr/>
        </p:nvSpPr>
        <p:spPr>
          <a:xfrm>
            <a:off x="548640" y="1371600"/>
            <a:ext cx="137160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Developer</a:t>
            </a:r>
            <a:endParaRPr lang="en-US" sz="1300" dirty="0"/>
          </a:p>
          <a:p>
            <a:pPr algn="ctr" indent="0" marL="0">
              <a:buNone/>
            </a:pPr>
            <a:r>
              <a:rPr lang="en-US" sz="1300" b="1" dirty="0">
                <a:solidFill>
                  <a:srgbClr val="FFFFFF"/>
                </a:solidFill>
              </a:rPr>
              <a:t>git push</a:t>
            </a:r>
            <a:endParaRPr lang="en-US" sz="1300" dirty="0"/>
          </a:p>
        </p:txBody>
      </p:sp>
      <p:sp>
        <p:nvSpPr>
          <p:cNvPr id="5" name="arch-box"/>
          <p:cNvSpPr/>
          <p:nvPr/>
        </p:nvSpPr>
        <p:spPr>
          <a:xfrm>
            <a:off x="2377440" y="1371600"/>
            <a:ext cx="1463040" cy="685800"/>
          </a:xfrm>
          <a:prstGeom prst="roundRect">
            <a:avLst>
              <a:gd name="adj" fmla="val 10667"/>
            </a:avLst>
          </a:prstGeom>
          <a:solidFill>
            <a:schemeClr val="tx2"/>
          </a:solidFill>
          <a:ln w="12700">
            <a:solidFill>
              <a:schemeClr val="tx2"/>
            </a:solidFill>
            <a:prstDash val="solid"/>
          </a:ln>
        </p:spPr>
      </p:sp>
      <p:sp>
        <p:nvSpPr>
          <p:cNvPr id="6" name="Text 4"/>
          <p:cNvSpPr txBox="1"/>
          <p:nvPr/>
        </p:nvSpPr>
        <p:spPr>
          <a:xfrm>
            <a:off x="2377440" y="1371600"/>
            <a:ext cx="146304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GitHub repo</a:t>
            </a:r>
            <a:endParaRPr lang="en-US" sz="1300" dirty="0"/>
          </a:p>
        </p:txBody>
      </p:sp>
      <p:sp>
        <p:nvSpPr>
          <p:cNvPr id="7" name="arch-box"/>
          <p:cNvSpPr/>
          <p:nvPr/>
        </p:nvSpPr>
        <p:spPr>
          <a:xfrm>
            <a:off x="4297680" y="1371600"/>
            <a:ext cx="3108960" cy="685800"/>
          </a:xfrm>
          <a:prstGeom prst="roundRect">
            <a:avLst>
              <a:gd name="adj" fmla="val 10667"/>
            </a:avLst>
          </a:prstGeom>
          <a:solidFill>
            <a:schemeClr val="accent1"/>
          </a:solidFill>
          <a:ln w="12700">
            <a:solidFill>
              <a:schemeClr val="accent1"/>
            </a:solidFill>
            <a:prstDash val="solid"/>
          </a:ln>
        </p:spPr>
      </p:sp>
      <p:sp>
        <p:nvSpPr>
          <p:cNvPr id="8" name="Text 6"/>
          <p:cNvSpPr txBox="1"/>
          <p:nvPr/>
        </p:nvSpPr>
        <p:spPr>
          <a:xfrm>
            <a:off x="4297680" y="1371600"/>
            <a:ext cx="3108960" cy="685800"/>
          </a:xfrm>
          <a:prstGeom prst="rect">
            <a:avLst/>
          </a:prstGeom>
          <a:noFill/>
          <a:ln/>
        </p:spPr>
        <p:txBody>
          <a:bodyPr wrap="square" lIns="635" tIns="635" rIns="635" bIns="635" rtlCol="0" anchor="ctr"/>
          <a:lstStyle/>
          <a:p>
            <a:pPr algn="ctr" indent="0" marL="0">
              <a:buNone/>
            </a:pPr>
            <a:r>
              <a:rPr lang="en-US" sz="1200" b="1" dirty="0">
                <a:solidFill>
                  <a:srgbClr val="FFFFFF"/>
                </a:solidFill>
              </a:rPr>
              <a:t>GitHub Actions: test · build · Trivy · kind</a:t>
            </a:r>
            <a:endParaRPr lang="en-US" sz="1200" dirty="0"/>
          </a:p>
        </p:txBody>
      </p:sp>
      <p:sp>
        <p:nvSpPr>
          <p:cNvPr id="9" name="arch-box"/>
          <p:cNvSpPr/>
          <p:nvPr/>
        </p:nvSpPr>
        <p:spPr>
          <a:xfrm>
            <a:off x="7863840" y="1371600"/>
            <a:ext cx="1554480" cy="685800"/>
          </a:xfrm>
          <a:prstGeom prst="roundRect">
            <a:avLst>
              <a:gd name="adj" fmla="val 10667"/>
            </a:avLst>
          </a:prstGeom>
          <a:solidFill>
            <a:schemeClr val="accent3"/>
          </a:solidFill>
          <a:ln w="12700">
            <a:solidFill>
              <a:schemeClr val="accent3"/>
            </a:solidFill>
            <a:prstDash val="solid"/>
          </a:ln>
        </p:spPr>
      </p:sp>
      <p:sp>
        <p:nvSpPr>
          <p:cNvPr id="10" name="Text 8"/>
          <p:cNvSpPr txBox="1"/>
          <p:nvPr/>
        </p:nvSpPr>
        <p:spPr>
          <a:xfrm>
            <a:off x="7863840" y="1371600"/>
            <a:ext cx="1554480" cy="685800"/>
          </a:xfrm>
          <a:prstGeom prst="rect">
            <a:avLst/>
          </a:prstGeom>
          <a:noFill/>
          <a:ln/>
        </p:spPr>
        <p:txBody>
          <a:bodyPr wrap="square" lIns="635" tIns="635" rIns="635" bIns="635" rtlCol="0" anchor="ctr"/>
          <a:lstStyle/>
          <a:p>
            <a:pPr algn="ctr" indent="0" marL="0">
              <a:buNone/>
            </a:pPr>
            <a:r>
              <a:rPr lang="en-US" sz="1200" b="1" dirty="0">
                <a:solidFill>
                  <a:srgbClr val="102A26"/>
                </a:solidFill>
              </a:rPr>
              <a:t>GHCR images</a:t>
            </a:r>
            <a:endParaRPr lang="en-US" sz="1200" dirty="0"/>
          </a:p>
          <a:p>
            <a:pPr algn="ctr" indent="0" marL="0">
              <a:buNone/>
            </a:pPr>
            <a:r>
              <a:rPr lang="en-US" sz="1200" b="1" dirty="0">
                <a:solidFill>
                  <a:srgbClr val="102A26"/>
                </a:solidFill>
              </a:rPr>
              <a:t>(tag = SHA)</a:t>
            </a:r>
            <a:endParaRPr lang="en-US" sz="1200" dirty="0"/>
          </a:p>
        </p:txBody>
      </p:sp>
      <p:sp>
        <p:nvSpPr>
          <p:cNvPr id="11" name="arch-box"/>
          <p:cNvSpPr/>
          <p:nvPr/>
        </p:nvSpPr>
        <p:spPr>
          <a:xfrm>
            <a:off x="9875520" y="1371600"/>
            <a:ext cx="1737360" cy="685800"/>
          </a:xfrm>
          <a:prstGeom prst="roundRect">
            <a:avLst>
              <a:gd name="adj" fmla="val 10667"/>
            </a:avLst>
          </a:prstGeom>
          <a:solidFill>
            <a:schemeClr val="accent3"/>
          </a:solidFill>
          <a:ln w="12700">
            <a:solidFill>
              <a:schemeClr val="accent3"/>
            </a:solidFill>
            <a:prstDash val="solid"/>
          </a:ln>
        </p:spPr>
      </p:sp>
      <p:sp>
        <p:nvSpPr>
          <p:cNvPr id="12" name="Text 10"/>
          <p:cNvSpPr txBox="1"/>
          <p:nvPr/>
        </p:nvSpPr>
        <p:spPr>
          <a:xfrm>
            <a:off x="9875520" y="1371600"/>
            <a:ext cx="1737360" cy="685800"/>
          </a:xfrm>
          <a:prstGeom prst="rect">
            <a:avLst/>
          </a:prstGeom>
          <a:noFill/>
          <a:ln/>
        </p:spPr>
        <p:txBody>
          <a:bodyPr wrap="square" lIns="635" tIns="635" rIns="635" bIns="635" rtlCol="0" anchor="ctr"/>
          <a:lstStyle/>
          <a:p>
            <a:pPr algn="ctr" indent="0" marL="0">
              <a:buNone/>
            </a:pPr>
            <a:r>
              <a:rPr lang="en-US" sz="1200" b="1" dirty="0">
                <a:solidFill>
                  <a:srgbClr val="102A26"/>
                </a:solidFill>
              </a:rPr>
              <a:t>values-gitops.yaml</a:t>
            </a:r>
            <a:endParaRPr lang="en-US" sz="1200" dirty="0"/>
          </a:p>
          <a:p>
            <a:pPr algn="ctr" indent="0" marL="0">
              <a:buNone/>
            </a:pPr>
            <a:r>
              <a:rPr lang="en-US" sz="1200" b="1" dirty="0">
                <a:solidFill>
                  <a:srgbClr val="102A26"/>
                </a:solidFill>
              </a:rPr>
              <a:t>(bot commit)</a:t>
            </a:r>
            <a:endParaRPr lang="en-US" sz="1200" dirty="0"/>
          </a:p>
        </p:txBody>
      </p:sp>
      <p:sp>
        <p:nvSpPr>
          <p:cNvPr id="13" name="arch-arrow"/>
          <p:cNvSpPr/>
          <p:nvPr/>
        </p:nvSpPr>
        <p:spPr>
          <a:xfrm>
            <a:off x="1920240" y="1714500"/>
            <a:ext cx="457200" cy="914"/>
          </a:xfrm>
          <a:prstGeom prst="line">
            <a:avLst/>
          </a:prstGeom>
          <a:noFill/>
          <a:ln w="19050">
            <a:solidFill>
              <a:srgbClr val="5D716D"/>
            </a:solidFill>
            <a:prstDash val="solid"/>
            <a:tailEnd type="triangle"/>
          </a:ln>
        </p:spPr>
      </p:sp>
      <p:sp>
        <p:nvSpPr>
          <p:cNvPr id="14" name="arch-arrow"/>
          <p:cNvSpPr/>
          <p:nvPr/>
        </p:nvSpPr>
        <p:spPr>
          <a:xfrm>
            <a:off x="3840480" y="1714500"/>
            <a:ext cx="457200" cy="914"/>
          </a:xfrm>
          <a:prstGeom prst="line">
            <a:avLst/>
          </a:prstGeom>
          <a:noFill/>
          <a:ln w="19050">
            <a:solidFill>
              <a:srgbClr val="5D716D"/>
            </a:solidFill>
            <a:prstDash val="solid"/>
            <a:tailEnd type="triangle"/>
          </a:ln>
        </p:spPr>
      </p:sp>
      <p:sp>
        <p:nvSpPr>
          <p:cNvPr id="15" name="arch-arrow"/>
          <p:cNvSpPr/>
          <p:nvPr/>
        </p:nvSpPr>
        <p:spPr>
          <a:xfrm>
            <a:off x="7406640" y="1714500"/>
            <a:ext cx="457200" cy="914"/>
          </a:xfrm>
          <a:prstGeom prst="line">
            <a:avLst/>
          </a:prstGeom>
          <a:noFill/>
          <a:ln w="19050">
            <a:solidFill>
              <a:srgbClr val="5D716D"/>
            </a:solidFill>
            <a:prstDash val="solid"/>
            <a:tailEnd type="triangle"/>
          </a:ln>
        </p:spPr>
      </p:sp>
      <p:sp>
        <p:nvSpPr>
          <p:cNvPr id="16" name="arch-arrow"/>
          <p:cNvSpPr/>
          <p:nvPr/>
        </p:nvSpPr>
        <p:spPr>
          <a:xfrm>
            <a:off x="9418320" y="1714500"/>
            <a:ext cx="457200" cy="914"/>
          </a:xfrm>
          <a:prstGeom prst="line">
            <a:avLst/>
          </a:prstGeom>
          <a:noFill/>
          <a:ln w="19050">
            <a:solidFill>
              <a:srgbClr val="5D716D"/>
            </a:solidFill>
            <a:prstDash val="solid"/>
            <a:tailEnd type="triangle"/>
          </a:ln>
        </p:spPr>
      </p:sp>
      <p:sp>
        <p:nvSpPr>
          <p:cNvPr id="17" name="aws-frame"/>
          <p:cNvSpPr/>
          <p:nvPr/>
        </p:nvSpPr>
        <p:spPr>
          <a:xfrm>
            <a:off x="548640" y="2514600"/>
            <a:ext cx="11064240" cy="3703320"/>
          </a:xfrm>
          <a:prstGeom prst="roundRect">
            <a:avLst>
              <a:gd name="adj" fmla="val 2469"/>
            </a:avLst>
          </a:prstGeom>
          <a:solidFill>
            <a:schemeClr val="bg2"/>
          </a:solidFill>
          <a:ln w="12700">
            <a:solidFill>
              <a:srgbClr val="C4D2CF"/>
            </a:solidFill>
            <a:prstDash val="solid"/>
          </a:ln>
        </p:spPr>
      </p:sp>
      <p:sp>
        <p:nvSpPr>
          <p:cNvPr id="18" name="Text 16"/>
          <p:cNvSpPr txBox="1"/>
          <p:nvPr/>
        </p:nvSpPr>
        <p:spPr>
          <a:xfrm>
            <a:off x="777240" y="2606040"/>
            <a:ext cx="5486400" cy="274320"/>
          </a:xfrm>
          <a:prstGeom prst="rect">
            <a:avLst/>
          </a:prstGeom>
          <a:noFill/>
          <a:ln/>
        </p:spPr>
        <p:txBody>
          <a:bodyPr wrap="square" lIns="0" tIns="0" rIns="0" bIns="0" rtlCol="0" anchor="t"/>
          <a:lstStyle/>
          <a:p>
            <a:pPr indent="0" marL="0">
              <a:buNone/>
            </a:pPr>
            <a:r>
              <a:rPr lang="en-US" sz="1200" b="1" dirty="0">
                <a:solidFill>
                  <a:schemeClr val="accent1"/>
                </a:solidFill>
              </a:rPr>
              <a:t>AWS ap-south-1 · VPC 10.40.0.0/16 · 2 AZs · Terraform</a:t>
            </a:r>
            <a:endParaRPr lang="en-US" sz="1200" dirty="0"/>
          </a:p>
        </p:txBody>
      </p:sp>
      <p:sp>
        <p:nvSpPr>
          <p:cNvPr id="19" name="arch-box"/>
          <p:cNvSpPr/>
          <p:nvPr/>
        </p:nvSpPr>
        <p:spPr>
          <a:xfrm>
            <a:off x="822960" y="3108960"/>
            <a:ext cx="1737360" cy="960120"/>
          </a:xfrm>
          <a:prstGeom prst="roundRect">
            <a:avLst>
              <a:gd name="adj" fmla="val 7619"/>
            </a:avLst>
          </a:prstGeom>
          <a:solidFill>
            <a:srgbClr val="FFFFFF"/>
          </a:solidFill>
          <a:ln w="12700">
            <a:solidFill>
              <a:srgbClr val="FFFFFF"/>
            </a:solidFill>
            <a:prstDash val="solid"/>
          </a:ln>
        </p:spPr>
      </p:sp>
      <p:sp>
        <p:nvSpPr>
          <p:cNvPr id="20" name="Text 18"/>
          <p:cNvSpPr txBox="1"/>
          <p:nvPr/>
        </p:nvSpPr>
        <p:spPr>
          <a:xfrm>
            <a:off x="822960" y="3108960"/>
            <a:ext cx="1737360" cy="960120"/>
          </a:xfrm>
          <a:prstGeom prst="rect">
            <a:avLst/>
          </a:prstGeom>
          <a:noFill/>
          <a:ln/>
        </p:spPr>
        <p:txBody>
          <a:bodyPr wrap="square" lIns="635" tIns="635" rIns="635" bIns="635" rtlCol="0" anchor="ctr"/>
          <a:lstStyle/>
          <a:p>
            <a:pPr algn="ctr" indent="0" marL="0">
              <a:buNone/>
            </a:pPr>
            <a:r>
              <a:rPr lang="en-US" sz="1200" b="1" dirty="0">
                <a:solidFill>
                  <a:srgbClr val="102A26"/>
                </a:solidFill>
              </a:rPr>
              <a:t>Clinic staff</a:t>
            </a:r>
            <a:endParaRPr lang="en-US" sz="1200" dirty="0"/>
          </a:p>
          <a:p>
            <a:pPr algn="ctr" indent="0" marL="0">
              <a:buNone/>
            </a:pPr>
            <a:r>
              <a:rPr lang="en-US" sz="1200" b="1" dirty="0">
                <a:solidFill>
                  <a:srgbClr val="102A26"/>
                </a:solidFill>
              </a:rPr>
              <a:t>(browser)</a:t>
            </a:r>
            <a:endParaRPr lang="en-US" sz="1200" dirty="0"/>
          </a:p>
        </p:txBody>
      </p:sp>
      <p:sp>
        <p:nvSpPr>
          <p:cNvPr id="21" name="arch-box"/>
          <p:cNvSpPr/>
          <p:nvPr/>
        </p:nvSpPr>
        <p:spPr>
          <a:xfrm>
            <a:off x="2926080" y="3108960"/>
            <a:ext cx="1920240" cy="960120"/>
          </a:xfrm>
          <a:prstGeom prst="roundRect">
            <a:avLst>
              <a:gd name="adj" fmla="val 7619"/>
            </a:avLst>
          </a:prstGeom>
          <a:solidFill>
            <a:schemeClr val="tx2"/>
          </a:solidFill>
          <a:ln w="12700">
            <a:solidFill>
              <a:schemeClr val="tx2"/>
            </a:solidFill>
            <a:prstDash val="solid"/>
          </a:ln>
        </p:spPr>
      </p:sp>
      <p:sp>
        <p:nvSpPr>
          <p:cNvPr id="22" name="Text 20"/>
          <p:cNvSpPr txBox="1"/>
          <p:nvPr/>
        </p:nvSpPr>
        <p:spPr>
          <a:xfrm>
            <a:off x="2926080" y="3108960"/>
            <a:ext cx="1920240" cy="960120"/>
          </a:xfrm>
          <a:prstGeom prst="rect">
            <a:avLst/>
          </a:prstGeom>
          <a:noFill/>
          <a:ln/>
        </p:spPr>
        <p:txBody>
          <a:bodyPr wrap="square" lIns="635" tIns="635" rIns="635" bIns="635" rtlCol="0" anchor="ctr"/>
          <a:lstStyle/>
          <a:p>
            <a:pPr algn="ctr" indent="0" marL="0">
              <a:buNone/>
            </a:pPr>
            <a:r>
              <a:rPr lang="en-US" sz="1200" b="1" dirty="0">
                <a:solidFill>
                  <a:srgbClr val="FFFFFF"/>
                </a:solidFill>
              </a:rPr>
              <a:t>Edge node</a:t>
            </a:r>
            <a:endParaRPr lang="en-US" sz="1200" dirty="0"/>
          </a:p>
          <a:p>
            <a:pPr algn="ctr" indent="0" marL="0">
              <a:buNone/>
            </a:pPr>
            <a:r>
              <a:rPr lang="en-US" sz="1200" b="1" dirty="0">
                <a:solidFill>
                  <a:srgbClr val="FFFFFF"/>
                </a:solidFill>
              </a:rPr>
              <a:t>public subnet</a:t>
            </a:r>
            <a:endParaRPr lang="en-US" sz="1200" dirty="0"/>
          </a:p>
          <a:p>
            <a:pPr algn="ctr" indent="0" marL="0">
              <a:buNone/>
            </a:pPr>
            <a:r>
              <a:rPr lang="en-US" sz="1200" b="1" dirty="0">
                <a:solidFill>
                  <a:srgbClr val="FFFFFF"/>
                </a:solidFill>
              </a:rPr>
              <a:t>ports 80/443</a:t>
            </a:r>
            <a:endParaRPr lang="en-US" sz="1200" dirty="0"/>
          </a:p>
        </p:txBody>
      </p:sp>
      <p:sp>
        <p:nvSpPr>
          <p:cNvPr id="23" name="arch-arrow"/>
          <p:cNvSpPr/>
          <p:nvPr/>
        </p:nvSpPr>
        <p:spPr>
          <a:xfrm>
            <a:off x="2560320" y="3589020"/>
            <a:ext cx="365760" cy="914"/>
          </a:xfrm>
          <a:prstGeom prst="line">
            <a:avLst/>
          </a:prstGeom>
          <a:noFill/>
          <a:ln w="19050">
            <a:solidFill>
              <a:srgbClr val="5D716D"/>
            </a:solidFill>
            <a:prstDash val="solid"/>
            <a:tailEnd type="triangle"/>
          </a:ln>
        </p:spPr>
      </p:sp>
      <p:sp>
        <p:nvSpPr>
          <p:cNvPr id="24" name="eks-frame"/>
          <p:cNvSpPr/>
          <p:nvPr/>
        </p:nvSpPr>
        <p:spPr>
          <a:xfrm>
            <a:off x="5166360" y="2926080"/>
            <a:ext cx="6217920" cy="3108960"/>
          </a:xfrm>
          <a:prstGeom prst="roundRect">
            <a:avLst>
              <a:gd name="adj" fmla="val 2353"/>
            </a:avLst>
          </a:prstGeom>
          <a:solidFill>
            <a:srgbClr val="FFFFFF"/>
          </a:solidFill>
          <a:ln w="12700">
            <a:solidFill>
              <a:srgbClr val="C4D2CF"/>
            </a:solidFill>
            <a:prstDash val="solid"/>
          </a:ln>
        </p:spPr>
      </p:sp>
      <p:sp>
        <p:nvSpPr>
          <p:cNvPr id="25" name="Text 23"/>
          <p:cNvSpPr txBox="1"/>
          <p:nvPr/>
        </p:nvSpPr>
        <p:spPr>
          <a:xfrm>
            <a:off x="5349240" y="2999232"/>
            <a:ext cx="5486400" cy="274320"/>
          </a:xfrm>
          <a:prstGeom prst="rect">
            <a:avLst/>
          </a:prstGeom>
          <a:noFill/>
          <a:ln/>
        </p:spPr>
        <p:txBody>
          <a:bodyPr wrap="square" lIns="0" tIns="0" rIns="0" bIns="0" rtlCol="0" anchor="t"/>
          <a:lstStyle/>
          <a:p>
            <a:pPr indent="0" marL="0">
              <a:buNone/>
            </a:pPr>
            <a:r>
              <a:rPr lang="en-US" sz="1100" b="1" dirty="0">
                <a:solidFill>
                  <a:srgbClr val="5D716D"/>
                </a:solidFill>
              </a:rPr>
              <a:t>EKS 1.36 · 3 × t3.medium in private subnets</a:t>
            </a:r>
            <a:endParaRPr lang="en-US" sz="1100" dirty="0"/>
          </a:p>
        </p:txBody>
      </p:sp>
      <p:sp>
        <p:nvSpPr>
          <p:cNvPr id="26" name="arch-box"/>
          <p:cNvSpPr/>
          <p:nvPr/>
        </p:nvSpPr>
        <p:spPr>
          <a:xfrm>
            <a:off x="5394960" y="3383280"/>
            <a:ext cx="1371600" cy="640080"/>
          </a:xfrm>
          <a:prstGeom prst="roundRect">
            <a:avLst>
              <a:gd name="adj" fmla="val 11429"/>
            </a:avLst>
          </a:prstGeom>
          <a:solidFill>
            <a:schemeClr val="accent1"/>
          </a:solidFill>
          <a:ln w="12700">
            <a:solidFill>
              <a:schemeClr val="accent1"/>
            </a:solidFill>
            <a:prstDash val="solid"/>
          </a:ln>
        </p:spPr>
      </p:sp>
      <p:sp>
        <p:nvSpPr>
          <p:cNvPr id="27" name="Text 25"/>
          <p:cNvSpPr txBox="1"/>
          <p:nvPr/>
        </p:nvSpPr>
        <p:spPr>
          <a:xfrm>
            <a:off x="5394960" y="3383280"/>
            <a:ext cx="1371600"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ingress-nginx</a:t>
            </a:r>
            <a:endParaRPr lang="en-US" sz="1200" dirty="0"/>
          </a:p>
        </p:txBody>
      </p:sp>
      <p:sp>
        <p:nvSpPr>
          <p:cNvPr id="28" name="arch-box"/>
          <p:cNvSpPr/>
          <p:nvPr/>
        </p:nvSpPr>
        <p:spPr>
          <a:xfrm>
            <a:off x="7132320" y="3383280"/>
            <a:ext cx="1554480" cy="640080"/>
          </a:xfrm>
          <a:prstGeom prst="roundRect">
            <a:avLst>
              <a:gd name="adj" fmla="val 11429"/>
            </a:avLst>
          </a:prstGeom>
          <a:solidFill>
            <a:schemeClr val="accent2"/>
          </a:solidFill>
          <a:ln w="12700">
            <a:solidFill>
              <a:schemeClr val="accent2"/>
            </a:solidFill>
            <a:prstDash val="solid"/>
          </a:ln>
        </p:spPr>
      </p:sp>
      <p:sp>
        <p:nvSpPr>
          <p:cNvPr id="29" name="Text 27"/>
          <p:cNvSpPr txBox="1"/>
          <p:nvPr/>
        </p:nvSpPr>
        <p:spPr>
          <a:xfrm>
            <a:off x="7132320" y="3383280"/>
            <a:ext cx="1554480" cy="640080"/>
          </a:xfrm>
          <a:prstGeom prst="rect">
            <a:avLst/>
          </a:prstGeom>
          <a:noFill/>
          <a:ln/>
        </p:spPr>
        <p:txBody>
          <a:bodyPr wrap="square" lIns="635" tIns="635" rIns="635" bIns="635" rtlCol="0" anchor="ctr"/>
          <a:lstStyle/>
          <a:p>
            <a:pPr algn="ctr" indent="0" marL="0">
              <a:buNone/>
            </a:pPr>
            <a:r>
              <a:rPr lang="en-US" sz="1100" b="1" dirty="0">
                <a:solidFill>
                  <a:srgbClr val="102A26"/>
                </a:solidFill>
              </a:rPr>
              <a:t>frontend ×2</a:t>
            </a:r>
            <a:endParaRPr lang="en-US" sz="1100" dirty="0"/>
          </a:p>
          <a:p>
            <a:pPr algn="ctr" indent="0" marL="0">
              <a:buNone/>
            </a:pPr>
            <a:r>
              <a:rPr lang="en-US" sz="1100" b="1" dirty="0">
                <a:solidFill>
                  <a:srgbClr val="102A26"/>
                </a:solidFill>
              </a:rPr>
              <a:t>React / nginx</a:t>
            </a:r>
            <a:endParaRPr lang="en-US" sz="1100" dirty="0"/>
          </a:p>
        </p:txBody>
      </p:sp>
      <p:sp>
        <p:nvSpPr>
          <p:cNvPr id="30" name="arch-box"/>
          <p:cNvSpPr/>
          <p:nvPr/>
        </p:nvSpPr>
        <p:spPr>
          <a:xfrm>
            <a:off x="9052560" y="3383280"/>
            <a:ext cx="2103120" cy="640080"/>
          </a:xfrm>
          <a:prstGeom prst="roundRect">
            <a:avLst>
              <a:gd name="adj" fmla="val 11429"/>
            </a:avLst>
          </a:prstGeom>
          <a:solidFill>
            <a:schemeClr val="accent2"/>
          </a:solidFill>
          <a:ln w="12700">
            <a:solidFill>
              <a:schemeClr val="accent2"/>
            </a:solidFill>
            <a:prstDash val="solid"/>
          </a:ln>
        </p:spPr>
      </p:sp>
      <p:sp>
        <p:nvSpPr>
          <p:cNvPr id="31" name="Text 29"/>
          <p:cNvSpPr txBox="1"/>
          <p:nvPr/>
        </p:nvSpPr>
        <p:spPr>
          <a:xfrm>
            <a:off x="9052560" y="3383280"/>
            <a:ext cx="2103120" cy="640080"/>
          </a:xfrm>
          <a:prstGeom prst="rect">
            <a:avLst/>
          </a:prstGeom>
          <a:noFill/>
          <a:ln/>
        </p:spPr>
        <p:txBody>
          <a:bodyPr wrap="square" lIns="635" tIns="635" rIns="635" bIns="635" rtlCol="0" anchor="ctr"/>
          <a:lstStyle/>
          <a:p>
            <a:pPr algn="ctr" indent="0" marL="0">
              <a:buNone/>
            </a:pPr>
            <a:r>
              <a:rPr lang="en-US" sz="1100" b="1" dirty="0">
                <a:solidFill>
                  <a:srgbClr val="102A26"/>
                </a:solidFill>
              </a:rPr>
              <a:t>backend ×2–8</a:t>
            </a:r>
            <a:endParaRPr lang="en-US" sz="1100" dirty="0"/>
          </a:p>
          <a:p>
            <a:pPr algn="ctr" indent="0" marL="0">
              <a:buNone/>
            </a:pPr>
            <a:r>
              <a:rPr lang="en-US" sz="1100" b="1" dirty="0">
                <a:solidFill>
                  <a:srgbClr val="102A26"/>
                </a:solidFill>
              </a:rPr>
              <a:t>FastAPI · HPA</a:t>
            </a:r>
            <a:endParaRPr lang="en-US" sz="1100" dirty="0"/>
          </a:p>
        </p:txBody>
      </p:sp>
      <p:sp>
        <p:nvSpPr>
          <p:cNvPr id="32" name="arch-box"/>
          <p:cNvSpPr/>
          <p:nvPr/>
        </p:nvSpPr>
        <p:spPr>
          <a:xfrm>
            <a:off x="9052560" y="4434840"/>
            <a:ext cx="2103120" cy="640080"/>
          </a:xfrm>
          <a:prstGeom prst="roundRect">
            <a:avLst>
              <a:gd name="adj" fmla="val 11429"/>
            </a:avLst>
          </a:prstGeom>
          <a:solidFill>
            <a:schemeClr val="accent4"/>
          </a:solidFill>
          <a:ln w="12700">
            <a:solidFill>
              <a:schemeClr val="accent4"/>
            </a:solidFill>
            <a:prstDash val="solid"/>
          </a:ln>
        </p:spPr>
      </p:sp>
      <p:sp>
        <p:nvSpPr>
          <p:cNvPr id="33" name="Text 31"/>
          <p:cNvSpPr txBox="1"/>
          <p:nvPr/>
        </p:nvSpPr>
        <p:spPr>
          <a:xfrm>
            <a:off x="9052560" y="4434840"/>
            <a:ext cx="2103120" cy="640080"/>
          </a:xfrm>
          <a:prstGeom prst="rect">
            <a:avLst/>
          </a:prstGeom>
          <a:noFill/>
          <a:ln/>
        </p:spPr>
        <p:txBody>
          <a:bodyPr wrap="square" lIns="635" tIns="635" rIns="635" bIns="635" rtlCol="0" anchor="ctr"/>
          <a:lstStyle/>
          <a:p>
            <a:pPr algn="ctr" indent="0" marL="0">
              <a:buNone/>
            </a:pPr>
            <a:r>
              <a:rPr lang="en-US" sz="1100" b="1" dirty="0">
                <a:solidFill>
                  <a:srgbClr val="FFFFFF"/>
                </a:solidFill>
              </a:rPr>
              <a:t>PostgreSQL</a:t>
            </a:r>
            <a:endParaRPr lang="en-US" sz="1100" dirty="0"/>
          </a:p>
          <a:p>
            <a:pPr algn="ctr" indent="0" marL="0">
              <a:buNone/>
            </a:pPr>
            <a:r>
              <a:rPr lang="en-US" sz="1100" b="1" dirty="0">
                <a:solidFill>
                  <a:srgbClr val="FFFFFF"/>
                </a:solidFill>
              </a:rPr>
              <a:t>StatefulSet + EBS</a:t>
            </a:r>
            <a:endParaRPr lang="en-US" sz="1100" dirty="0"/>
          </a:p>
        </p:txBody>
      </p:sp>
      <p:sp>
        <p:nvSpPr>
          <p:cNvPr id="34" name="arch-box"/>
          <p:cNvSpPr/>
          <p:nvPr/>
        </p:nvSpPr>
        <p:spPr>
          <a:xfrm>
            <a:off x="5394960" y="4434840"/>
            <a:ext cx="1371600" cy="640080"/>
          </a:xfrm>
          <a:prstGeom prst="roundRect">
            <a:avLst>
              <a:gd name="adj" fmla="val 11429"/>
            </a:avLst>
          </a:prstGeom>
          <a:solidFill>
            <a:schemeClr val="accent3"/>
          </a:solidFill>
          <a:ln w="12700">
            <a:solidFill>
              <a:schemeClr val="accent3"/>
            </a:solidFill>
            <a:prstDash val="solid"/>
          </a:ln>
        </p:spPr>
      </p:sp>
      <p:sp>
        <p:nvSpPr>
          <p:cNvPr id="35" name="Text 33"/>
          <p:cNvSpPr txBox="1"/>
          <p:nvPr/>
        </p:nvSpPr>
        <p:spPr>
          <a:xfrm>
            <a:off x="5394960" y="4434840"/>
            <a:ext cx="1371600" cy="640080"/>
          </a:xfrm>
          <a:prstGeom prst="rect">
            <a:avLst/>
          </a:prstGeom>
          <a:noFill/>
          <a:ln/>
        </p:spPr>
        <p:txBody>
          <a:bodyPr wrap="square" lIns="635" tIns="635" rIns="635" bIns="635" rtlCol="0" anchor="ctr"/>
          <a:lstStyle/>
          <a:p>
            <a:pPr algn="ctr" indent="0" marL="0">
              <a:buNone/>
            </a:pPr>
            <a:r>
              <a:rPr lang="en-US" sz="1100" b="1" dirty="0">
                <a:solidFill>
                  <a:srgbClr val="102A26"/>
                </a:solidFill>
              </a:rPr>
              <a:t>Argo CD</a:t>
            </a:r>
            <a:endParaRPr lang="en-US" sz="1100" dirty="0"/>
          </a:p>
          <a:p>
            <a:pPr algn="ctr" indent="0" marL="0">
              <a:buNone/>
            </a:pPr>
            <a:r>
              <a:rPr lang="en-US" sz="1100" b="1" dirty="0">
                <a:solidFill>
                  <a:srgbClr val="102A26"/>
                </a:solidFill>
              </a:rPr>
              <a:t>auto-sync</a:t>
            </a:r>
            <a:endParaRPr lang="en-US" sz="1100" dirty="0"/>
          </a:p>
        </p:txBody>
      </p:sp>
      <p:sp>
        <p:nvSpPr>
          <p:cNvPr id="36" name="arch-box"/>
          <p:cNvSpPr/>
          <p:nvPr/>
        </p:nvSpPr>
        <p:spPr>
          <a:xfrm>
            <a:off x="7132320" y="4434840"/>
            <a:ext cx="1554480" cy="640080"/>
          </a:xfrm>
          <a:prstGeom prst="roundRect">
            <a:avLst>
              <a:gd name="adj" fmla="val 11429"/>
            </a:avLst>
          </a:prstGeom>
          <a:solidFill>
            <a:schemeClr val="accent5"/>
          </a:solidFill>
          <a:ln w="12700">
            <a:solidFill>
              <a:schemeClr val="accent5"/>
            </a:solidFill>
            <a:prstDash val="solid"/>
          </a:ln>
        </p:spPr>
      </p:sp>
      <p:sp>
        <p:nvSpPr>
          <p:cNvPr id="37" name="Text 35"/>
          <p:cNvSpPr txBox="1"/>
          <p:nvPr/>
        </p:nvSpPr>
        <p:spPr>
          <a:xfrm>
            <a:off x="7132320" y="4434840"/>
            <a:ext cx="1554480" cy="640080"/>
          </a:xfrm>
          <a:prstGeom prst="rect">
            <a:avLst/>
          </a:prstGeom>
          <a:noFill/>
          <a:ln/>
        </p:spPr>
        <p:txBody>
          <a:bodyPr wrap="square" lIns="635" tIns="635" rIns="635" bIns="635" rtlCol="0" anchor="ctr"/>
          <a:lstStyle/>
          <a:p>
            <a:pPr algn="ctr" indent="0" marL="0">
              <a:buNone/>
            </a:pPr>
            <a:r>
              <a:rPr lang="en-US" sz="1100" b="1" dirty="0">
                <a:solidFill>
                  <a:srgbClr val="FFFFFF"/>
                </a:solidFill>
              </a:rPr>
              <a:t>Prometheus</a:t>
            </a:r>
            <a:endParaRPr lang="en-US" sz="1100" dirty="0"/>
          </a:p>
          <a:p>
            <a:pPr algn="ctr" indent="0" marL="0">
              <a:buNone/>
            </a:pPr>
            <a:r>
              <a:rPr lang="en-US" sz="1100" b="1" dirty="0">
                <a:solidFill>
                  <a:srgbClr val="FFFFFF"/>
                </a:solidFill>
              </a:rPr>
              <a:t>+ Grafana</a:t>
            </a:r>
            <a:endParaRPr lang="en-US" sz="1100" dirty="0"/>
          </a:p>
        </p:txBody>
      </p:sp>
      <p:sp>
        <p:nvSpPr>
          <p:cNvPr id="38" name="arch-arrow"/>
          <p:cNvSpPr/>
          <p:nvPr/>
        </p:nvSpPr>
        <p:spPr>
          <a:xfrm>
            <a:off x="4846320" y="3589020"/>
            <a:ext cx="548640" cy="114300"/>
          </a:xfrm>
          <a:prstGeom prst="line">
            <a:avLst/>
          </a:prstGeom>
          <a:noFill/>
          <a:ln w="19050">
            <a:solidFill>
              <a:srgbClr val="5D716D"/>
            </a:solidFill>
            <a:prstDash val="solid"/>
            <a:tailEnd type="triangle"/>
          </a:ln>
        </p:spPr>
      </p:sp>
      <p:sp>
        <p:nvSpPr>
          <p:cNvPr id="39" name="arch-arrow"/>
          <p:cNvSpPr/>
          <p:nvPr/>
        </p:nvSpPr>
        <p:spPr>
          <a:xfrm>
            <a:off x="6766560" y="3703320"/>
            <a:ext cx="365760" cy="914"/>
          </a:xfrm>
          <a:prstGeom prst="line">
            <a:avLst/>
          </a:prstGeom>
          <a:noFill/>
          <a:ln w="19050">
            <a:solidFill>
              <a:srgbClr val="5D716D"/>
            </a:solidFill>
            <a:prstDash val="solid"/>
            <a:tailEnd type="triangle"/>
          </a:ln>
        </p:spPr>
      </p:sp>
      <p:sp>
        <p:nvSpPr>
          <p:cNvPr id="40" name="Text 38"/>
          <p:cNvSpPr txBox="1"/>
          <p:nvPr/>
        </p:nvSpPr>
        <p:spPr>
          <a:xfrm>
            <a:off x="6583680" y="3410712"/>
            <a:ext cx="731520" cy="256032"/>
          </a:xfrm>
          <a:prstGeom prst="rect">
            <a:avLst/>
          </a:prstGeom>
          <a:noFill/>
          <a:ln/>
        </p:spPr>
        <p:txBody>
          <a:bodyPr wrap="square" lIns="0" tIns="0" rIns="0" bIns="0" rtlCol="0" anchor="t"/>
          <a:lstStyle/>
          <a:p>
            <a:pPr algn="ctr" indent="0" marL="0">
              <a:buNone/>
            </a:pPr>
            <a:r>
              <a:rPr lang="en-US" sz="1000" dirty="0">
                <a:solidFill>
                  <a:srgbClr val="5D716D"/>
                </a:solidFill>
              </a:rPr>
              <a:t>/</a:t>
            </a:r>
            <a:endParaRPr lang="en-US" sz="1000" dirty="0"/>
          </a:p>
        </p:txBody>
      </p:sp>
      <p:sp>
        <p:nvSpPr>
          <p:cNvPr id="41" name="arch-arrow"/>
          <p:cNvSpPr/>
          <p:nvPr/>
        </p:nvSpPr>
        <p:spPr>
          <a:xfrm>
            <a:off x="8686800" y="3703320"/>
            <a:ext cx="365760" cy="914"/>
          </a:xfrm>
          <a:prstGeom prst="line">
            <a:avLst/>
          </a:prstGeom>
          <a:noFill/>
          <a:ln w="19050">
            <a:solidFill>
              <a:srgbClr val="5D716D"/>
            </a:solidFill>
            <a:prstDash val="solid"/>
            <a:tailEnd type="triangle"/>
          </a:ln>
        </p:spPr>
      </p:sp>
      <p:sp>
        <p:nvSpPr>
          <p:cNvPr id="42" name="Text 40"/>
          <p:cNvSpPr txBox="1"/>
          <p:nvPr/>
        </p:nvSpPr>
        <p:spPr>
          <a:xfrm>
            <a:off x="8503920" y="3410712"/>
            <a:ext cx="731520" cy="256032"/>
          </a:xfrm>
          <a:prstGeom prst="rect">
            <a:avLst/>
          </a:prstGeom>
          <a:noFill/>
          <a:ln/>
        </p:spPr>
        <p:txBody>
          <a:bodyPr wrap="square" lIns="0" tIns="0" rIns="0" bIns="0" rtlCol="0" anchor="t"/>
          <a:lstStyle/>
          <a:p>
            <a:pPr algn="ctr" indent="0" marL="0">
              <a:buNone/>
            </a:pPr>
            <a:r>
              <a:rPr lang="en-US" sz="1000" dirty="0">
                <a:solidFill>
                  <a:srgbClr val="5D716D"/>
                </a:solidFill>
              </a:rPr>
              <a:t>/api</a:t>
            </a:r>
            <a:endParaRPr lang="en-US" sz="1000" dirty="0"/>
          </a:p>
        </p:txBody>
      </p:sp>
      <p:sp>
        <p:nvSpPr>
          <p:cNvPr id="43" name="arch-arrow"/>
          <p:cNvSpPr/>
          <p:nvPr/>
        </p:nvSpPr>
        <p:spPr>
          <a:xfrm>
            <a:off x="10104120" y="4023360"/>
            <a:ext cx="914" cy="411480"/>
          </a:xfrm>
          <a:prstGeom prst="line">
            <a:avLst/>
          </a:prstGeom>
          <a:noFill/>
          <a:ln w="19050">
            <a:solidFill>
              <a:srgbClr val="5D716D"/>
            </a:solidFill>
            <a:prstDash val="solid"/>
            <a:tailEnd type="triangle"/>
          </a:ln>
        </p:spPr>
      </p:sp>
      <p:sp>
        <p:nvSpPr>
          <p:cNvPr id="44" name="arch-arrow"/>
          <p:cNvSpPr/>
          <p:nvPr/>
        </p:nvSpPr>
        <p:spPr>
          <a:xfrm flipV="1">
            <a:off x="8686800" y="3886200"/>
            <a:ext cx="365760" cy="868680"/>
          </a:xfrm>
          <a:prstGeom prst="line">
            <a:avLst/>
          </a:prstGeom>
          <a:noFill/>
          <a:ln w="19050">
            <a:solidFill>
              <a:srgbClr val="5D716D"/>
            </a:solidFill>
            <a:prstDash val="solid"/>
            <a:tailEnd type="triangle"/>
          </a:ln>
        </p:spPr>
      </p:sp>
      <p:sp>
        <p:nvSpPr>
          <p:cNvPr id="45" name="Text 43"/>
          <p:cNvSpPr txBox="1"/>
          <p:nvPr/>
        </p:nvSpPr>
        <p:spPr>
          <a:xfrm>
            <a:off x="5394960" y="5349240"/>
            <a:ext cx="5852160" cy="548640"/>
          </a:xfrm>
          <a:prstGeom prst="rect">
            <a:avLst/>
          </a:prstGeom>
          <a:noFill/>
          <a:ln/>
        </p:spPr>
        <p:txBody>
          <a:bodyPr wrap="square" lIns="0" tIns="0" rIns="0" bIns="0" rtlCol="0" anchor="t"/>
          <a:lstStyle/>
          <a:p>
            <a:pPr indent="0" marL="0">
              <a:buNone/>
            </a:pPr>
            <a:r>
              <a:rPr lang="en-US" sz="1100" dirty="0">
                <a:solidFill>
                  <a:srgbClr val="5D716D"/>
                </a:solidFill>
              </a:rPr>
              <a:t>Argo CD polls git every 60 s and syncs the chart; Prometheus scrapes /metrics via a ServiceMonitor</a:t>
            </a:r>
            <a:endParaRPr lang="en-US" sz="1100" dirty="0"/>
          </a:p>
        </p:txBody>
      </p:sp>
      <p:sp>
        <p:nvSpPr>
          <p:cNvPr id="46" name="Text 44"/>
          <p:cNvSpPr txBox="1"/>
          <p:nvPr/>
        </p:nvSpPr>
        <p:spPr>
          <a:xfrm>
            <a:off x="822960" y="4343400"/>
            <a:ext cx="4114800" cy="548640"/>
          </a:xfrm>
          <a:prstGeom prst="rect">
            <a:avLst/>
          </a:prstGeom>
          <a:noFill/>
          <a:ln/>
        </p:spPr>
        <p:txBody>
          <a:bodyPr wrap="square" lIns="0" tIns="0" rIns="0" bIns="0" rtlCol="0" anchor="t"/>
          <a:lstStyle/>
          <a:p>
            <a:pPr indent="0" marL="0">
              <a:buNone/>
            </a:pPr>
            <a:r>
              <a:rPr lang="en-US" sz="1100" dirty="0">
                <a:solidFill>
                  <a:srgbClr val="5D716D"/>
                </a:solidFill>
              </a:rPr>
              <a:t>GitHub Actions reaches AWS through OIDC — no stored AWS keys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Application and REST API</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3566160"/>
                <a:gridCol w="3383280"/>
              </a:tblGrid>
              <a:tr h="475488">
                <a:tc>
                  <a:txBody>
                    <a:bodyPr/>
                    <a:lstStyle/>
                    <a:p>
                      <a:pPr indent="0" marL="0">
                        <a:buNone/>
                      </a:pPr>
                      <a:r>
                        <a:rPr lang="en-US" sz="1300" b="1" dirty="0">
                          <a:solidFill>
                            <a:srgbClr val="FFFFFF"/>
                          </a:solidFill>
                        </a:rPr>
                        <a:t>Endpoint</a:t>
                      </a:r>
                      <a:endParaRPr lang="en-US" sz="1300" dirty="0"/>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accent1"/>
                    </a:solidFill>
                  </a:tcPr>
                </a:tc>
                <a:tc>
                  <a:txBody>
                    <a:bodyPr/>
                    <a:lstStyle/>
                    <a:p>
                      <a:pPr indent="0" marL="0">
                        <a:buNone/>
                      </a:pPr>
                      <a:r>
                        <a:rPr lang="en-US" sz="1300" b="1" dirty="0">
                          <a:solidFill>
                            <a:srgbClr val="FFFFFF"/>
                          </a:solidFill>
                        </a:rPr>
                        <a:t>Purpose</a:t>
                      </a:r>
                      <a:endParaRPr lang="en-US" sz="1300" dirty="0"/>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accent1"/>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  /health · /ready · /metrics</a:t>
                      </a:r>
                      <a:endParaRPr lang="en-US" sz="1200" dirty="0">
                        <a:latin typeface="Courier New" charset="0"/>
                        <a:ea typeface="Courier New" charset="0"/>
                        <a:cs typeface="Courier New" charset="0"/>
                      </a:endParaRPr>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liveness · DB readiness (503 if down) · Prometheus</a:t>
                      </a:r>
                      <a:endParaRPr lang="en-US" sz="1300" dirty="0"/>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2"/>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  /api/stats</a:t>
                      </a:r>
                      <a:endParaRPr lang="en-US" sz="1200" dirty="0">
                        <a:latin typeface="Courier New" charset="0"/>
                        <a:ea typeface="Courier New" charset="0"/>
                        <a:cs typeface="Courier New" charset="0"/>
                      </a:endParaRPr>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dashboard KPIs in the clinic's timezone</a:t>
                      </a:r>
                      <a:endParaRPr lang="en-US" sz="1300" dirty="0"/>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1"/>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GET/POST  /api/doctors, /api/patients</a:t>
                      </a:r>
                      <a:endParaRPr lang="en-US" sz="1200" dirty="0">
                        <a:latin typeface="Courier New" charset="0"/>
                        <a:ea typeface="Courier New" charset="0"/>
                        <a:cs typeface="Courier New" charset="0"/>
                      </a:endParaRPr>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list, search (?q=), register</a:t>
                      </a:r>
                      <a:endParaRPr lang="en-US" sz="1300" dirty="0"/>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2"/>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GET/PUT/DELETE  /api/{resource}/{id}</a:t>
                      </a:r>
                      <a:endParaRPr lang="en-US" sz="1200" dirty="0">
                        <a:latin typeface="Courier New" charset="0"/>
                        <a:ea typeface="Courier New" charset="0"/>
                        <a:cs typeface="Courier New" charset="0"/>
                      </a:endParaRPr>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read, update, delete (409 if history exists)</a:t>
                      </a:r>
                      <a:endParaRPr lang="en-US" sz="1300" dirty="0"/>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1"/>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GET/POST  /api/appointments</a:t>
                      </a:r>
                      <a:endParaRPr lang="en-US" sz="1200" dirty="0">
                        <a:latin typeface="Courier New" charset="0"/>
                        <a:ea typeface="Courier New" charset="0"/>
                        <a:cs typeface="Courier New" charset="0"/>
                      </a:endParaRPr>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filter by status / doctor / day; book (409 on overlap)</a:t>
                      </a:r>
                      <a:endParaRPr lang="en-US" sz="1300" dirty="0"/>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2"/>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PUT  /api/appointments/{id}</a:t>
                      </a:r>
                      <a:endParaRPr lang="en-US" sz="1200" dirty="0">
                        <a:latin typeface="Courier New" charset="0"/>
                        <a:ea typeface="Courier New" charset="0"/>
                        <a:cs typeface="Courier New" charset="0"/>
                      </a:endParaRPr>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reschedule or change status — validated transitions</a:t>
                      </a:r>
                      <a:endParaRPr lang="en-US" sz="1300" dirty="0"/>
                    </a:p>
                  </a:txBody>
                  <a:tcPr marL="73152" marR="73152" marT="73152" marB="73152">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chemeClr val="bg1"/>
                    </a:solidFill>
                  </a:tcPr>
                </a:tc>
              </a:tr>
            </a:tbl>
          </a:graphicData>
        </a:graphic>
      </p:graphicFrame>
      <p:sp>
        <p:nvSpPr>
          <p:cNvPr id="4" name="card"/>
          <p:cNvSpPr/>
          <p:nvPr/>
        </p:nvSpPr>
        <p:spPr>
          <a:xfrm>
            <a:off x="7863840" y="1325880"/>
            <a:ext cx="3749040" cy="4663440"/>
          </a:xfrm>
          <a:prstGeom prst="roundRect">
            <a:avLst>
              <a:gd name="adj" fmla="val 292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icon-circle"/>
          <p:cNvSpPr/>
          <p:nvPr/>
        </p:nvSpPr>
        <p:spPr>
          <a:xfrm>
            <a:off x="8138160" y="1600200"/>
            <a:ext cx="566928" cy="566928"/>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8274223" y="1736263"/>
            <a:ext cx="294803" cy="294803"/>
          </a:xfrm>
          <a:prstGeom prst="rect">
            <a:avLst/>
          </a:prstGeom>
        </p:spPr>
      </p:pic>
      <p:sp>
        <p:nvSpPr>
          <p:cNvPr id="7" name="Text 3"/>
          <p:cNvSpPr txBox="1"/>
          <p:nvPr/>
        </p:nvSpPr>
        <p:spPr>
          <a:xfrm>
            <a:off x="8138160" y="2331720"/>
            <a:ext cx="3291840" cy="411480"/>
          </a:xfrm>
          <a:prstGeom prst="rect">
            <a:avLst/>
          </a:prstGeom>
          <a:noFill/>
          <a:ln/>
        </p:spPr>
        <p:txBody>
          <a:bodyPr wrap="square" lIns="0" tIns="0" rIns="0" bIns="0" rtlCol="0" anchor="t"/>
          <a:lstStyle/>
          <a:p>
            <a:pPr indent="0" marL="0">
              <a:buNone/>
            </a:pPr>
            <a:r>
              <a:rPr lang="en-US" sz="1800" b="1" dirty="0">
                <a:solidFill>
                  <a:schemeClr val="tx2"/>
                </a:solidFill>
              </a:rPr>
              <a:t>Rules the API enforces</a:t>
            </a:r>
            <a:endParaRPr lang="en-US" sz="1800" dirty="0"/>
          </a:p>
        </p:txBody>
      </p:sp>
      <p:sp>
        <p:nvSpPr>
          <p:cNvPr id="8" name="Text 4"/>
          <p:cNvSpPr txBox="1"/>
          <p:nvPr/>
        </p:nvSpPr>
        <p:spPr>
          <a:xfrm>
            <a:off x="8138160" y="2834640"/>
            <a:ext cx="329184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No overlapping bookings for a doctor</a:t>
            </a:r>
            <a:endParaRPr lang="en-US" sz="1400" dirty="0"/>
          </a:p>
          <a:p>
            <a:pPr marL="342900" indent="-342900">
              <a:spcAft>
                <a:spcPts val="800"/>
              </a:spcAft>
              <a:buSzPct val="100000"/>
              <a:buChar char="•"/>
            </a:pPr>
            <a:r>
              <a:rPr lang="en-US" sz="1400" dirty="0">
                <a:solidFill>
                  <a:schemeClr val="tx1"/>
                </a:solidFill>
              </a:rPr>
              <a:t>Back-to-back slots are allowed</a:t>
            </a:r>
            <a:endParaRPr lang="en-US" sz="1400" dirty="0"/>
          </a:p>
          <a:p>
            <a:pPr marL="342900" indent="-342900">
              <a:spcAft>
                <a:spcPts val="800"/>
              </a:spcAft>
              <a:buSzPct val="100000"/>
              <a:buChar char="•"/>
            </a:pPr>
            <a:r>
              <a:rPr lang="en-US" sz="1400" dirty="0">
                <a:solidFill>
                  <a:schemeClr val="tx1"/>
                </a:solidFill>
              </a:rPr>
              <a:t>Only future times; off-duty doctors can't be booked</a:t>
            </a:r>
            <a:endParaRPr lang="en-US" sz="1400" dirty="0"/>
          </a:p>
          <a:p>
            <a:pPr marL="342900" indent="-342900">
              <a:spcAft>
                <a:spcPts val="800"/>
              </a:spcAft>
              <a:buSzPct val="100000"/>
              <a:buChar char="•"/>
            </a:pPr>
            <a:r>
              <a:rPr lang="en-US" sz="1400" dirty="0">
                <a:solidFill>
                  <a:schemeClr val="tx1"/>
                </a:solidFill>
              </a:rPr>
              <a:t>Status state machine, terminal states locked</a:t>
            </a:r>
            <a:endParaRPr lang="en-US" sz="1400" dirty="0"/>
          </a:p>
          <a:p>
            <a:pPr marL="342900" indent="-342900">
              <a:spcAft>
                <a:spcPts val="800"/>
              </a:spcAft>
              <a:buSzPct val="100000"/>
              <a:buChar char="•"/>
            </a:pPr>
            <a:r>
              <a:rPr lang="en-US" sz="1400" dirty="0">
                <a:solidFill>
                  <a:schemeClr val="tx1"/>
                </a:solidFill>
              </a:rPr>
              <a:t>Schema via Alembic: 3 tables, check constraints, indexes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Tests are the first quality gate</a:t>
            </a:r>
            <a:endParaRPr lang="en-US" sz="3600" dirty="0"/>
          </a:p>
        </p:txBody>
      </p:sp>
      <p:sp>
        <p:nvSpPr>
          <p:cNvPr id="3" name="card"/>
          <p:cNvSpPr/>
          <p:nvPr/>
        </p:nvSpPr>
        <p:spPr>
          <a:xfrm>
            <a:off x="548640" y="1371600"/>
            <a:ext cx="182880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48640" y="1600200"/>
            <a:ext cx="1828800" cy="777240"/>
          </a:xfrm>
          <a:prstGeom prst="rect">
            <a:avLst/>
          </a:prstGeom>
          <a:noFill/>
          <a:ln/>
        </p:spPr>
        <p:txBody>
          <a:bodyPr wrap="square" lIns="0" tIns="0" rIns="0" bIns="0" rtlCol="0" anchor="t"/>
          <a:lstStyle/>
          <a:p>
            <a:pPr algn="ctr" indent="0" marL="0">
              <a:buNone/>
            </a:pPr>
            <a:r>
              <a:rPr lang="en-US" sz="4000" b="1" dirty="0">
                <a:solidFill>
                  <a:schemeClr val="accent1"/>
                </a:solidFill>
              </a:rPr>
              <a:t>25</a:t>
            </a:r>
            <a:endParaRPr lang="en-US" sz="4000" dirty="0"/>
          </a:p>
        </p:txBody>
      </p:sp>
      <p:sp>
        <p:nvSpPr>
          <p:cNvPr id="5" name="Text 3"/>
          <p:cNvSpPr txBox="1"/>
          <p:nvPr/>
        </p:nvSpPr>
        <p:spPr>
          <a:xfrm>
            <a:off x="548640" y="2423160"/>
            <a:ext cx="1828800" cy="365760"/>
          </a:xfrm>
          <a:prstGeom prst="rect">
            <a:avLst/>
          </a:prstGeom>
          <a:noFill/>
          <a:ln/>
        </p:spPr>
        <p:txBody>
          <a:bodyPr wrap="square" lIns="0" tIns="0" rIns="0" bIns="0" rtlCol="0" anchor="t"/>
          <a:lstStyle/>
          <a:p>
            <a:pPr algn="ctr" indent="0" marL="0">
              <a:buNone/>
            </a:pPr>
            <a:r>
              <a:rPr lang="en-US" sz="1400" dirty="0">
                <a:solidFill>
                  <a:srgbClr val="5D716D"/>
                </a:solidFill>
              </a:rPr>
              <a:t>pytest cases</a:t>
            </a:r>
            <a:endParaRPr lang="en-US" sz="1400" dirty="0"/>
          </a:p>
        </p:txBody>
      </p:sp>
      <p:sp>
        <p:nvSpPr>
          <p:cNvPr id="6" name="card"/>
          <p:cNvSpPr/>
          <p:nvPr/>
        </p:nvSpPr>
        <p:spPr>
          <a:xfrm>
            <a:off x="2560320" y="1371600"/>
            <a:ext cx="182880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560320" y="1600200"/>
            <a:ext cx="1828800" cy="777240"/>
          </a:xfrm>
          <a:prstGeom prst="rect">
            <a:avLst/>
          </a:prstGeom>
          <a:noFill/>
          <a:ln/>
        </p:spPr>
        <p:txBody>
          <a:bodyPr wrap="square" lIns="0" tIns="0" rIns="0" bIns="0" rtlCol="0" anchor="t"/>
          <a:lstStyle/>
          <a:p>
            <a:pPr algn="ctr" indent="0" marL="0">
              <a:buNone/>
            </a:pPr>
            <a:r>
              <a:rPr lang="en-US" sz="4000" b="1" dirty="0">
                <a:solidFill>
                  <a:schemeClr val="accent1"/>
                </a:solidFill>
              </a:rPr>
              <a:t>99%</a:t>
            </a:r>
            <a:endParaRPr lang="en-US" sz="4000" dirty="0"/>
          </a:p>
        </p:txBody>
      </p:sp>
      <p:sp>
        <p:nvSpPr>
          <p:cNvPr id="8" name="Text 6"/>
          <p:cNvSpPr txBox="1"/>
          <p:nvPr/>
        </p:nvSpPr>
        <p:spPr>
          <a:xfrm>
            <a:off x="2560320" y="2423160"/>
            <a:ext cx="1828800" cy="365760"/>
          </a:xfrm>
          <a:prstGeom prst="rect">
            <a:avLst/>
          </a:prstGeom>
          <a:noFill/>
          <a:ln/>
        </p:spPr>
        <p:txBody>
          <a:bodyPr wrap="square" lIns="0" tIns="0" rIns="0" bIns="0" rtlCol="0" anchor="t"/>
          <a:lstStyle/>
          <a:p>
            <a:pPr algn="ctr" indent="0" marL="0">
              <a:buNone/>
            </a:pPr>
            <a:r>
              <a:rPr lang="en-US" sz="1400" dirty="0">
                <a:solidFill>
                  <a:srgbClr val="5D716D"/>
                </a:solidFill>
              </a:rPr>
              <a:t>line coverage</a:t>
            </a:r>
            <a:endParaRPr lang="en-US" sz="1400" dirty="0"/>
          </a:p>
        </p:txBody>
      </p:sp>
      <p:sp>
        <p:nvSpPr>
          <p:cNvPr id="9" name="card"/>
          <p:cNvSpPr/>
          <p:nvPr/>
        </p:nvSpPr>
        <p:spPr>
          <a:xfrm>
            <a:off x="4572000" y="1371600"/>
            <a:ext cx="182880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572000" y="1600200"/>
            <a:ext cx="1828800" cy="777240"/>
          </a:xfrm>
          <a:prstGeom prst="rect">
            <a:avLst/>
          </a:prstGeom>
          <a:noFill/>
          <a:ln/>
        </p:spPr>
        <p:txBody>
          <a:bodyPr wrap="square" lIns="0" tIns="0" rIns="0" bIns="0" rtlCol="0" anchor="t"/>
          <a:lstStyle/>
          <a:p>
            <a:pPr algn="ctr" indent="0" marL="0">
              <a:buNone/>
            </a:pPr>
            <a:r>
              <a:rPr lang="en-US" sz="4000" b="1" dirty="0">
                <a:solidFill>
                  <a:schemeClr val="accent1"/>
                </a:solidFill>
              </a:rPr>
              <a:t>≥90%</a:t>
            </a:r>
            <a:endParaRPr lang="en-US" sz="4000" dirty="0"/>
          </a:p>
        </p:txBody>
      </p:sp>
      <p:sp>
        <p:nvSpPr>
          <p:cNvPr id="11" name="Text 9"/>
          <p:cNvSpPr txBox="1"/>
          <p:nvPr/>
        </p:nvSpPr>
        <p:spPr>
          <a:xfrm>
            <a:off x="4572000" y="2423160"/>
            <a:ext cx="1828800" cy="365760"/>
          </a:xfrm>
          <a:prstGeom prst="rect">
            <a:avLst/>
          </a:prstGeom>
          <a:noFill/>
          <a:ln/>
        </p:spPr>
        <p:txBody>
          <a:bodyPr wrap="square" lIns="0" tIns="0" rIns="0" bIns="0" rtlCol="0" anchor="t"/>
          <a:lstStyle/>
          <a:p>
            <a:pPr algn="ctr" indent="0" marL="0">
              <a:buNone/>
            </a:pPr>
            <a:r>
              <a:rPr lang="en-US" sz="1400" dirty="0">
                <a:solidFill>
                  <a:srgbClr val="5D716D"/>
                </a:solidFill>
              </a:rPr>
              <a:t>required by CI</a:t>
            </a:r>
            <a:endParaRPr lang="en-US" sz="1400" dirty="0"/>
          </a:p>
        </p:txBody>
      </p:sp>
      <p:sp>
        <p:nvSpPr>
          <p:cNvPr id="12" name="Text 10"/>
          <p:cNvSpPr txBox="1"/>
          <p:nvPr/>
        </p:nvSpPr>
        <p:spPr>
          <a:xfrm>
            <a:off x="548640" y="3474720"/>
            <a:ext cx="585216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CI runs pytest against a throwaway PostgreSQL service container — never a real database</a:t>
            </a:r>
            <a:endParaRPr lang="en-US" sz="1500" dirty="0"/>
          </a:p>
          <a:p>
            <a:pPr marL="342900" indent="-342900">
              <a:spcAft>
                <a:spcPts val="1000"/>
              </a:spcAft>
              <a:buSzPct val="100000"/>
              <a:buChar char="•"/>
            </a:pPr>
            <a:r>
              <a:rPr lang="en-US" sz="1500" dirty="0">
                <a:solidFill>
                  <a:schemeClr val="tx1"/>
                </a:solidFill>
              </a:rPr>
              <a:t>Also in CI: ruff lint/format and alembic upgrade → check → downgrade</a:t>
            </a:r>
            <a:endParaRPr lang="en-US" sz="1500" dirty="0"/>
          </a:p>
          <a:p>
            <a:pPr marL="342900" indent="-342900">
              <a:spcAft>
                <a:spcPts val="1000"/>
              </a:spcAft>
              <a:buSzPct val="100000"/>
              <a:buChar char="•"/>
            </a:pPr>
            <a:r>
              <a:rPr lang="en-US" sz="1500" dirty="0">
                <a:solidFill>
                  <a:schemeClr val="tx1"/>
                </a:solidFill>
              </a:rPr>
              <a:t>Covers CRUD, 422 validation, 404s, double booking, rescheduling conflicts, the status machine, filters, stats and /metrics</a:t>
            </a:r>
            <a:endParaRPr lang="en-US" sz="1500" dirty="0"/>
          </a:p>
        </p:txBody>
      </p:sp>
      <p:sp>
        <p:nvSpPr>
          <p:cNvPr id="13" name="card"/>
          <p:cNvSpPr/>
          <p:nvPr/>
        </p:nvSpPr>
        <p:spPr>
          <a:xfrm>
            <a:off x="6858000" y="1371600"/>
            <a:ext cx="4754880" cy="4572000"/>
          </a:xfrm>
          <a:prstGeom prst="roundRect">
            <a:avLst>
              <a:gd name="adj" fmla="val 2400"/>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315200" y="1737360"/>
            <a:ext cx="4023360" cy="3840480"/>
          </a:xfrm>
          <a:prstGeom prst="rect">
            <a:avLst/>
          </a:prstGeom>
          <a:noFill/>
          <a:ln/>
        </p:spPr>
        <p:txBody>
          <a:bodyPr wrap="square" lIns="0" tIns="0" rIns="0" bIns="0" rtlCol="0" anchor="ctr"/>
          <a:lstStyle/>
          <a:p>
            <a:pPr indent="0" marL="0">
              <a:buNone/>
            </a:pPr>
            <a:r>
              <a:rPr lang="en-US" sz="2000" dirty="0">
                <a:solidFill>
                  <a:srgbClr val="99F6E4"/>
                </a:solidFill>
                <a:latin typeface="Courier New" pitchFamily="34" charset="0"/>
                <a:ea typeface="Courier New" pitchFamily="34" charset="-122"/>
                <a:cs typeface="Courier New" pitchFamily="34" charset="-120"/>
              </a:rPr>
              <a:t>Bad code</a:t>
            </a:r>
            <a:endParaRPr lang="en-US" sz="2000" dirty="0"/>
          </a:p>
          <a:p>
            <a:pPr indent="0" marL="0">
              <a:buNone/>
            </a:pPr>
            <a:r>
              <a:rPr lang="en-US" sz="2000" dirty="0">
                <a:solidFill>
                  <a:srgbClr val="99F6E4"/>
                </a:solidFill>
                <a:latin typeface="Courier New" pitchFamily="34" charset="0"/>
                <a:ea typeface="Courier New" pitchFamily="34" charset="-122"/>
                <a:cs typeface="Courier New" pitchFamily="34" charset="-120"/>
              </a:rPr>
              <a:t>   ↓</a:t>
            </a:r>
            <a:endParaRPr lang="en-US" sz="2000" dirty="0"/>
          </a:p>
          <a:p>
            <a:pPr indent="0" marL="0">
              <a:buNone/>
            </a:pPr>
            <a:r>
              <a:rPr lang="en-US" sz="2000" dirty="0">
                <a:solidFill>
                  <a:srgbClr val="99F6E4"/>
                </a:solidFill>
                <a:latin typeface="Courier New" pitchFamily="34" charset="0"/>
                <a:ea typeface="Courier New" pitchFamily="34" charset="-122"/>
                <a:cs typeface="Courier New" pitchFamily="34" charset="-120"/>
              </a:rPr>
              <a:t>pytest fails</a:t>
            </a:r>
            <a:endParaRPr lang="en-US" sz="2000" dirty="0"/>
          </a:p>
          <a:p>
            <a:pPr indent="0" marL="0">
              <a:buNone/>
            </a:pPr>
            <a:r>
              <a:rPr lang="en-US" sz="2000" dirty="0">
                <a:solidFill>
                  <a:srgbClr val="99F6E4"/>
                </a:solidFill>
                <a:latin typeface="Courier New" pitchFamily="34" charset="0"/>
                <a:ea typeface="Courier New" pitchFamily="34" charset="-122"/>
                <a:cs typeface="Courier New" pitchFamily="34" charset="-120"/>
              </a:rPr>
              <a:t>   ↓</a:t>
            </a:r>
            <a:endParaRPr lang="en-US" sz="2000" dirty="0"/>
          </a:p>
          <a:p>
            <a:pPr indent="0" marL="0">
              <a:buNone/>
            </a:pPr>
            <a:r>
              <a:rPr lang="en-US" sz="2000" dirty="0">
                <a:solidFill>
                  <a:srgbClr val="99F6E4"/>
                </a:solidFill>
                <a:latin typeface="Courier New" pitchFamily="34" charset="0"/>
                <a:ea typeface="Courier New" pitchFamily="34" charset="-122"/>
                <a:cs typeface="Courier New" pitchFamily="34" charset="-120"/>
              </a:rPr>
              <a:t>pipeline stops</a:t>
            </a:r>
            <a:endParaRPr lang="en-US" sz="2000" dirty="0"/>
          </a:p>
          <a:p>
            <a:pPr indent="0" marL="0">
              <a:buNone/>
            </a:pPr>
            <a:r>
              <a:rPr lang="en-US" sz="2000" dirty="0">
                <a:solidFill>
                  <a:srgbClr val="99F6E4"/>
                </a:solidFill>
                <a:latin typeface="Courier New" pitchFamily="34" charset="0"/>
                <a:ea typeface="Courier New" pitchFamily="34" charset="-122"/>
                <a:cs typeface="Courier New" pitchFamily="34" charset="-120"/>
              </a:rPr>
              <a:t>   ↓</a:t>
            </a:r>
            <a:endParaRPr lang="en-US" sz="2000" dirty="0"/>
          </a:p>
          <a:p>
            <a:pPr indent="0" marL="0">
              <a:buNone/>
            </a:pPr>
            <a:r>
              <a:rPr lang="en-US" sz="2000" dirty="0">
                <a:solidFill>
                  <a:srgbClr val="99F6E4"/>
                </a:solidFill>
                <a:latin typeface="Courier New" pitchFamily="34" charset="0"/>
                <a:ea typeface="Courier New" pitchFamily="34" charset="-122"/>
                <a:cs typeface="Courier New" pitchFamily="34" charset="-120"/>
              </a:rPr>
              <a:t>no image is built or pushed</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Containers: small, non-root, scanned</a:t>
            </a:r>
            <a:endParaRPr lang="en-US" sz="3600" dirty="0"/>
          </a:p>
        </p:txBody>
      </p:sp>
      <p:sp>
        <p:nvSpPr>
          <p:cNvPr id="3" name="card"/>
          <p:cNvSpPr/>
          <p:nvPr/>
        </p:nvSpPr>
        <p:spPr>
          <a:xfrm>
            <a:off x="548640" y="1325880"/>
            <a:ext cx="5394960" cy="3017520"/>
          </a:xfrm>
          <a:prstGeom prst="roundRect">
            <a:avLst>
              <a:gd name="adj" fmla="val 363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circle"/>
          <p:cNvSpPr/>
          <p:nvPr/>
        </p:nvSpPr>
        <p:spPr>
          <a:xfrm>
            <a:off x="822960" y="1600200"/>
            <a:ext cx="566928" cy="566928"/>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959023" y="1736263"/>
            <a:ext cx="294803" cy="294803"/>
          </a:xfrm>
          <a:prstGeom prst="rect">
            <a:avLst/>
          </a:prstGeom>
        </p:spPr>
      </p:pic>
      <p:sp>
        <p:nvSpPr>
          <p:cNvPr id="6" name="Text 3"/>
          <p:cNvSpPr txBox="1"/>
          <p:nvPr/>
        </p:nvSpPr>
        <p:spPr>
          <a:xfrm>
            <a:off x="1554480" y="1691640"/>
            <a:ext cx="3291840" cy="411480"/>
          </a:xfrm>
          <a:prstGeom prst="rect">
            <a:avLst/>
          </a:prstGeom>
          <a:noFill/>
          <a:ln/>
        </p:spPr>
        <p:txBody>
          <a:bodyPr wrap="square" lIns="0" tIns="0" rIns="0" bIns="0" rtlCol="0" anchor="t"/>
          <a:lstStyle/>
          <a:p>
            <a:pPr indent="0" marL="0">
              <a:buNone/>
            </a:pPr>
            <a:r>
              <a:rPr lang="en-US" sz="1900" b="1" dirty="0">
                <a:solidFill>
                  <a:schemeClr val="tx2"/>
                </a:solidFill>
                <a:latin typeface="Courier New" pitchFamily="34" charset="0"/>
                <a:ea typeface="Courier New" pitchFamily="34" charset="-122"/>
                <a:cs typeface="Courier New" pitchFamily="34" charset="-120"/>
              </a:rPr>
              <a:t>clinicflow-backend</a:t>
            </a:r>
            <a:endParaRPr lang="en-US" sz="1900" dirty="0"/>
          </a:p>
        </p:txBody>
      </p:sp>
      <p:sp>
        <p:nvSpPr>
          <p:cNvPr id="7" name="Text 4"/>
          <p:cNvSpPr txBox="1"/>
          <p:nvPr/>
        </p:nvSpPr>
        <p:spPr>
          <a:xfrm>
            <a:off x="4572000" y="1691640"/>
            <a:ext cx="1097280" cy="411480"/>
          </a:xfrm>
          <a:prstGeom prst="rect">
            <a:avLst/>
          </a:prstGeom>
          <a:noFill/>
          <a:ln/>
        </p:spPr>
        <p:txBody>
          <a:bodyPr wrap="square" lIns="0" tIns="0" rIns="0" bIns="0" rtlCol="0" anchor="t"/>
          <a:lstStyle/>
          <a:p>
            <a:pPr algn="r" indent="0" marL="0">
              <a:buNone/>
            </a:pPr>
            <a:r>
              <a:rPr lang="en-US" sz="1800" b="1" dirty="0">
                <a:solidFill>
                  <a:schemeClr val="accent1"/>
                </a:solidFill>
              </a:rPr>
              <a:t>313 MB</a:t>
            </a:r>
            <a:endParaRPr lang="en-US" sz="1800" dirty="0"/>
          </a:p>
        </p:txBody>
      </p:sp>
      <p:sp>
        <p:nvSpPr>
          <p:cNvPr id="8" name="Text 5"/>
          <p:cNvSpPr txBox="1"/>
          <p:nvPr/>
        </p:nvSpPr>
        <p:spPr>
          <a:xfrm>
            <a:off x="822960" y="2377440"/>
            <a:ext cx="484632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python:3.14-slim, 2 stages: venv built, then copied into a clean image</a:t>
            </a:r>
            <a:endParaRPr lang="en-US" sz="1500" dirty="0"/>
          </a:p>
          <a:p>
            <a:pPr marL="342900" indent="-342900">
              <a:spcAft>
                <a:spcPts val="800"/>
              </a:spcAft>
              <a:buSzPct val="100000"/>
              <a:buChar char="•"/>
            </a:pPr>
            <a:r>
              <a:rPr lang="en-US" sz="1500" dirty="0">
                <a:solidFill>
                  <a:schemeClr val="tx1"/>
                </a:solidFill>
              </a:rPr>
              <a:t>Runs as uid 10001; pip removed from the runtime image</a:t>
            </a:r>
            <a:endParaRPr lang="en-US" sz="1500" dirty="0"/>
          </a:p>
          <a:p>
            <a:pPr marL="342900" indent="-342900">
              <a:spcAft>
                <a:spcPts val="800"/>
              </a:spcAft>
              <a:buSzPct val="100000"/>
              <a:buChar char="•"/>
            </a:pPr>
            <a:r>
              <a:rPr lang="en-US" sz="1500" dirty="0">
                <a:solidFill>
                  <a:schemeClr val="tx1"/>
                </a:solidFill>
              </a:rPr>
              <a:t>Starts with alembic upgrade head, then exec uvicorn</a:t>
            </a:r>
            <a:endParaRPr lang="en-US" sz="1500" dirty="0"/>
          </a:p>
        </p:txBody>
      </p:sp>
      <p:sp>
        <p:nvSpPr>
          <p:cNvPr id="9" name="card"/>
          <p:cNvSpPr/>
          <p:nvPr/>
        </p:nvSpPr>
        <p:spPr>
          <a:xfrm>
            <a:off x="6217920" y="1325880"/>
            <a:ext cx="5394960" cy="3017520"/>
          </a:xfrm>
          <a:prstGeom prst="roundRect">
            <a:avLst>
              <a:gd name="adj" fmla="val 363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icon-circle"/>
          <p:cNvSpPr/>
          <p:nvPr/>
        </p:nvSpPr>
        <p:spPr>
          <a:xfrm>
            <a:off x="6492240" y="1600200"/>
            <a:ext cx="566928" cy="566928"/>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6628303" y="1736263"/>
            <a:ext cx="294803" cy="294803"/>
          </a:xfrm>
          <a:prstGeom prst="rect">
            <a:avLst/>
          </a:prstGeom>
        </p:spPr>
      </p:pic>
      <p:sp>
        <p:nvSpPr>
          <p:cNvPr id="12" name="Text 8"/>
          <p:cNvSpPr txBox="1"/>
          <p:nvPr/>
        </p:nvSpPr>
        <p:spPr>
          <a:xfrm>
            <a:off x="7223760" y="1691640"/>
            <a:ext cx="3291840" cy="411480"/>
          </a:xfrm>
          <a:prstGeom prst="rect">
            <a:avLst/>
          </a:prstGeom>
          <a:noFill/>
          <a:ln/>
        </p:spPr>
        <p:txBody>
          <a:bodyPr wrap="square" lIns="0" tIns="0" rIns="0" bIns="0" rtlCol="0" anchor="t"/>
          <a:lstStyle/>
          <a:p>
            <a:pPr indent="0" marL="0">
              <a:buNone/>
            </a:pPr>
            <a:r>
              <a:rPr lang="en-US" sz="1900" b="1" dirty="0">
                <a:solidFill>
                  <a:schemeClr val="tx2"/>
                </a:solidFill>
                <a:latin typeface="Courier New" pitchFamily="34" charset="0"/>
                <a:ea typeface="Courier New" pitchFamily="34" charset="-122"/>
                <a:cs typeface="Courier New" pitchFamily="34" charset="-120"/>
              </a:rPr>
              <a:t>clinicflow-frontend</a:t>
            </a:r>
            <a:endParaRPr lang="en-US" sz="1900" dirty="0"/>
          </a:p>
        </p:txBody>
      </p:sp>
      <p:sp>
        <p:nvSpPr>
          <p:cNvPr id="13" name="Text 9"/>
          <p:cNvSpPr txBox="1"/>
          <p:nvPr/>
        </p:nvSpPr>
        <p:spPr>
          <a:xfrm>
            <a:off x="10241280" y="1691640"/>
            <a:ext cx="1097280" cy="411480"/>
          </a:xfrm>
          <a:prstGeom prst="rect">
            <a:avLst/>
          </a:prstGeom>
          <a:noFill/>
          <a:ln/>
        </p:spPr>
        <p:txBody>
          <a:bodyPr wrap="square" lIns="0" tIns="0" rIns="0" bIns="0" rtlCol="0" anchor="t"/>
          <a:lstStyle/>
          <a:p>
            <a:pPr algn="r" indent="0" marL="0">
              <a:buNone/>
            </a:pPr>
            <a:r>
              <a:rPr lang="en-US" sz="1800" b="1" dirty="0">
                <a:solidFill>
                  <a:schemeClr val="accent1"/>
                </a:solidFill>
              </a:rPr>
              <a:t>90 MB</a:t>
            </a:r>
            <a:endParaRPr lang="en-US" sz="1800" dirty="0"/>
          </a:p>
        </p:txBody>
      </p:sp>
      <p:sp>
        <p:nvSpPr>
          <p:cNvPr id="14" name="Text 10"/>
          <p:cNvSpPr txBox="1"/>
          <p:nvPr/>
        </p:nvSpPr>
        <p:spPr>
          <a:xfrm>
            <a:off x="6492240" y="2377440"/>
            <a:ext cx="484632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node:24-alpine builds dist/, nginx-unprivileged:1.30 serves it</a:t>
            </a:r>
            <a:endParaRPr lang="en-US" sz="1500" dirty="0"/>
          </a:p>
          <a:p>
            <a:pPr marL="342900" indent="-342900">
              <a:spcAft>
                <a:spcPts val="800"/>
              </a:spcAft>
              <a:buSzPct val="100000"/>
              <a:buChar char="•"/>
            </a:pPr>
            <a:r>
              <a:rPr lang="en-US" sz="1500" dirty="0">
                <a:solidFill>
                  <a:schemeClr val="tx1"/>
                </a:solidFill>
              </a:rPr>
              <a:t>Runs as uid 101 on port 8080; proxies /api to the backend</a:t>
            </a:r>
            <a:endParaRPr lang="en-US" sz="1500" dirty="0"/>
          </a:p>
          <a:p>
            <a:pPr marL="342900" indent="-342900">
              <a:spcAft>
                <a:spcPts val="800"/>
              </a:spcAft>
              <a:buSzPct val="100000"/>
              <a:buChar char="•"/>
            </a:pPr>
            <a:r>
              <a:rPr lang="en-US" sz="1500" dirty="0">
                <a:solidFill>
                  <a:schemeClr val="tx1"/>
                </a:solidFill>
              </a:rPr>
              <a:t>Security headers, 1-year cache for hashed assets</a:t>
            </a:r>
            <a:endParaRPr lang="en-US" sz="1500" dirty="0"/>
          </a:p>
        </p:txBody>
      </p:sp>
      <p:sp>
        <p:nvSpPr>
          <p:cNvPr id="15" name="Text 11"/>
          <p:cNvSpPr txBox="1"/>
          <p:nvPr/>
        </p:nvSpPr>
        <p:spPr>
          <a:xfrm>
            <a:off x="548640" y="4709160"/>
            <a:ext cx="11064240" cy="822960"/>
          </a:xfrm>
          <a:prstGeom prst="rect">
            <a:avLst/>
          </a:prstGeom>
          <a:noFill/>
          <a:ln/>
        </p:spPr>
        <p:txBody>
          <a:bodyPr wrap="square" lIns="0" tIns="0" rIns="0" bIns="0" rtlCol="0" anchor="t"/>
          <a:lstStyle/>
          <a:p>
            <a:pPr indent="0" marL="0">
              <a:buNone/>
            </a:pPr>
            <a:r>
              <a:rPr lang="en-US" sz="1500" dirty="0">
                <a:solidFill>
                  <a:srgbClr val="5D716D"/>
                </a:solidFill>
              </a:rPr>
              <a:t>In Kubernetes every pod also runs with a read-only root filesystem, no Linux capabilities and seccomp RuntimeDefault — the namespace enforces Pod Security "restricted".  Locally: docker compose up --build → http://localhost:3000</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CI/CD pipeline — every push to main</a:t>
            </a:r>
            <a:endParaRPr lang="en-US" sz="3600" dirty="0"/>
          </a:p>
        </p:txBody>
      </p:sp>
      <p:sp>
        <p:nvSpPr>
          <p:cNvPr id="3" name="card"/>
          <p:cNvSpPr/>
          <p:nvPr/>
        </p:nvSpPr>
        <p:spPr>
          <a:xfrm>
            <a:off x="548640" y="1371600"/>
            <a:ext cx="256032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tep-num"/>
          <p:cNvSpPr/>
          <p:nvPr/>
        </p:nvSpPr>
        <p:spPr>
          <a:xfrm>
            <a:off x="777240" y="160020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417320" y="1645920"/>
            <a:ext cx="1554480" cy="411480"/>
          </a:xfrm>
          <a:prstGeom prst="rect">
            <a:avLst/>
          </a:prstGeom>
          <a:noFill/>
          <a:ln/>
        </p:spPr>
        <p:txBody>
          <a:bodyPr wrap="square" lIns="0" tIns="0" rIns="0" bIns="0" rtlCol="0" anchor="t"/>
          <a:lstStyle/>
          <a:p>
            <a:pPr indent="0" marL="0">
              <a:buNone/>
            </a:pPr>
            <a:r>
              <a:rPr lang="en-US" sz="1900" b="1" dirty="0">
                <a:solidFill>
                  <a:schemeClr val="tx2"/>
                </a:solidFill>
              </a:rPr>
              <a:t>Test</a:t>
            </a:r>
            <a:endParaRPr lang="en-US" sz="1900" dirty="0"/>
          </a:p>
        </p:txBody>
      </p:sp>
      <p:sp>
        <p:nvSpPr>
          <p:cNvPr id="7" name="Text 5"/>
          <p:cNvSpPr txBox="1"/>
          <p:nvPr/>
        </p:nvSpPr>
        <p:spPr>
          <a:xfrm>
            <a:off x="777240" y="2240280"/>
            <a:ext cx="2148840" cy="914400"/>
          </a:xfrm>
          <a:prstGeom prst="rect">
            <a:avLst/>
          </a:prstGeom>
          <a:noFill/>
          <a:ln/>
        </p:spPr>
        <p:txBody>
          <a:bodyPr wrap="square" lIns="0" tIns="0" rIns="0" bIns="0" rtlCol="0" anchor="t"/>
          <a:lstStyle/>
          <a:p>
            <a:pPr indent="0" marL="0">
              <a:buNone/>
            </a:pPr>
            <a:r>
              <a:rPr lang="en-US" sz="1300" dirty="0">
                <a:solidFill>
                  <a:schemeClr val="tx1"/>
                </a:solidFill>
              </a:rPr>
              <a:t>pytest + PostgreSQL, ruff, migrations</a:t>
            </a:r>
            <a:endParaRPr lang="en-US" sz="1300" dirty="0"/>
          </a:p>
        </p:txBody>
      </p:sp>
      <p:sp>
        <p:nvSpPr>
          <p:cNvPr id="8" name="card"/>
          <p:cNvSpPr/>
          <p:nvPr/>
        </p:nvSpPr>
        <p:spPr>
          <a:xfrm>
            <a:off x="3383280" y="1371600"/>
            <a:ext cx="256032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tep-num"/>
          <p:cNvSpPr/>
          <p:nvPr/>
        </p:nvSpPr>
        <p:spPr>
          <a:xfrm>
            <a:off x="3611880" y="160020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3611880" y="1600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4251960" y="1645920"/>
            <a:ext cx="1554480" cy="411480"/>
          </a:xfrm>
          <a:prstGeom prst="rect">
            <a:avLst/>
          </a:prstGeom>
          <a:noFill/>
          <a:ln/>
        </p:spPr>
        <p:txBody>
          <a:bodyPr wrap="square" lIns="0" tIns="0" rIns="0" bIns="0" rtlCol="0" anchor="t"/>
          <a:lstStyle/>
          <a:p>
            <a:pPr indent="0" marL="0">
              <a:buNone/>
            </a:pPr>
            <a:r>
              <a:rPr lang="en-US" sz="1900" b="1" dirty="0">
                <a:solidFill>
                  <a:schemeClr val="tx2"/>
                </a:solidFill>
              </a:rPr>
              <a:t>Build</a:t>
            </a:r>
            <a:endParaRPr lang="en-US" sz="1900" dirty="0"/>
          </a:p>
        </p:txBody>
      </p:sp>
      <p:sp>
        <p:nvSpPr>
          <p:cNvPr id="12" name="Text 10"/>
          <p:cNvSpPr txBox="1"/>
          <p:nvPr/>
        </p:nvSpPr>
        <p:spPr>
          <a:xfrm>
            <a:off x="3611880" y="2240280"/>
            <a:ext cx="2148840" cy="914400"/>
          </a:xfrm>
          <a:prstGeom prst="rect">
            <a:avLst/>
          </a:prstGeom>
          <a:noFill/>
          <a:ln/>
        </p:spPr>
        <p:txBody>
          <a:bodyPr wrap="square" lIns="0" tIns="0" rIns="0" bIns="0" rtlCol="0" anchor="t"/>
          <a:lstStyle/>
          <a:p>
            <a:pPr indent="0" marL="0">
              <a:buNone/>
            </a:pPr>
            <a:r>
              <a:rPr lang="en-US" sz="1300" dirty="0">
                <a:solidFill>
                  <a:schemeClr val="tx1"/>
                </a:solidFill>
              </a:rPr>
              <a:t>frontend build, npm audit, helm lint, terraform validate</a:t>
            </a:r>
            <a:endParaRPr lang="en-US" sz="1300" dirty="0"/>
          </a:p>
        </p:txBody>
      </p:sp>
      <p:sp>
        <p:nvSpPr>
          <p:cNvPr id="13" name="card"/>
          <p:cNvSpPr/>
          <p:nvPr/>
        </p:nvSpPr>
        <p:spPr>
          <a:xfrm>
            <a:off x="6217920" y="1371600"/>
            <a:ext cx="256032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step-num"/>
          <p:cNvSpPr/>
          <p:nvPr/>
        </p:nvSpPr>
        <p:spPr>
          <a:xfrm>
            <a:off x="6446520" y="160020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6446520" y="1600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7086600" y="1645920"/>
            <a:ext cx="1554480" cy="411480"/>
          </a:xfrm>
          <a:prstGeom prst="rect">
            <a:avLst/>
          </a:prstGeom>
          <a:noFill/>
          <a:ln/>
        </p:spPr>
        <p:txBody>
          <a:bodyPr wrap="square" lIns="0" tIns="0" rIns="0" bIns="0" rtlCol="0" anchor="t"/>
          <a:lstStyle/>
          <a:p>
            <a:pPr indent="0" marL="0">
              <a:buNone/>
            </a:pPr>
            <a:r>
              <a:rPr lang="en-US" sz="1900" b="1" dirty="0">
                <a:solidFill>
                  <a:schemeClr val="tx2"/>
                </a:solidFill>
              </a:rPr>
              <a:t>Image</a:t>
            </a:r>
            <a:endParaRPr lang="en-US" sz="1900" dirty="0"/>
          </a:p>
        </p:txBody>
      </p:sp>
      <p:sp>
        <p:nvSpPr>
          <p:cNvPr id="17" name="Text 15"/>
          <p:cNvSpPr txBox="1"/>
          <p:nvPr/>
        </p:nvSpPr>
        <p:spPr>
          <a:xfrm>
            <a:off x="6446520" y="2240280"/>
            <a:ext cx="2148840" cy="914400"/>
          </a:xfrm>
          <a:prstGeom prst="rect">
            <a:avLst/>
          </a:prstGeom>
          <a:noFill/>
          <a:ln/>
        </p:spPr>
        <p:txBody>
          <a:bodyPr wrap="square" lIns="0" tIns="0" rIns="0" bIns="0" rtlCol="0" anchor="t"/>
          <a:lstStyle/>
          <a:p>
            <a:pPr indent="0" marL="0">
              <a:buNone/>
            </a:pPr>
            <a:r>
              <a:rPr lang="en-US" sz="1300" dirty="0">
                <a:solidFill>
                  <a:schemeClr val="tx1"/>
                </a:solidFill>
              </a:rPr>
              <a:t>docker build backend + frontend</a:t>
            </a:r>
            <a:endParaRPr lang="en-US" sz="1300" dirty="0"/>
          </a:p>
        </p:txBody>
      </p:sp>
      <p:sp>
        <p:nvSpPr>
          <p:cNvPr id="18" name="card"/>
          <p:cNvSpPr/>
          <p:nvPr/>
        </p:nvSpPr>
        <p:spPr>
          <a:xfrm>
            <a:off x="9052560" y="1371600"/>
            <a:ext cx="256032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step-num"/>
          <p:cNvSpPr/>
          <p:nvPr/>
        </p:nvSpPr>
        <p:spPr>
          <a:xfrm>
            <a:off x="9281160" y="160020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9281160" y="1600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9"/>
          <p:cNvSpPr txBox="1"/>
          <p:nvPr/>
        </p:nvSpPr>
        <p:spPr>
          <a:xfrm>
            <a:off x="9921240" y="1645920"/>
            <a:ext cx="1554480" cy="411480"/>
          </a:xfrm>
          <a:prstGeom prst="rect">
            <a:avLst/>
          </a:prstGeom>
          <a:noFill/>
          <a:ln/>
        </p:spPr>
        <p:txBody>
          <a:bodyPr wrap="square" lIns="0" tIns="0" rIns="0" bIns="0" rtlCol="0" anchor="t"/>
          <a:lstStyle/>
          <a:p>
            <a:pPr indent="0" marL="0">
              <a:buNone/>
            </a:pPr>
            <a:r>
              <a:rPr lang="en-US" sz="1900" b="1" dirty="0">
                <a:solidFill>
                  <a:schemeClr val="tx2"/>
                </a:solidFill>
              </a:rPr>
              <a:t>Scan</a:t>
            </a:r>
            <a:endParaRPr lang="en-US" sz="1900" dirty="0"/>
          </a:p>
        </p:txBody>
      </p:sp>
      <p:sp>
        <p:nvSpPr>
          <p:cNvPr id="22" name="Text 20"/>
          <p:cNvSpPr txBox="1"/>
          <p:nvPr/>
        </p:nvSpPr>
        <p:spPr>
          <a:xfrm>
            <a:off x="9281160" y="2240280"/>
            <a:ext cx="2148840" cy="914400"/>
          </a:xfrm>
          <a:prstGeom prst="rect">
            <a:avLst/>
          </a:prstGeom>
          <a:noFill/>
          <a:ln/>
        </p:spPr>
        <p:txBody>
          <a:bodyPr wrap="square" lIns="0" tIns="0" rIns="0" bIns="0" rtlCol="0" anchor="t"/>
          <a:lstStyle/>
          <a:p>
            <a:pPr indent="0" marL="0">
              <a:buNone/>
            </a:pPr>
            <a:r>
              <a:rPr lang="en-US" sz="1300" dirty="0">
                <a:solidFill>
                  <a:schemeClr val="tx1"/>
                </a:solidFill>
              </a:rPr>
              <a:t>Trivy gate: fail on fixable HIGH/CRITICAL</a:t>
            </a:r>
            <a:endParaRPr lang="en-US" sz="1300" dirty="0"/>
          </a:p>
        </p:txBody>
      </p:sp>
      <p:sp>
        <p:nvSpPr>
          <p:cNvPr id="23" name="card"/>
          <p:cNvSpPr/>
          <p:nvPr/>
        </p:nvSpPr>
        <p:spPr>
          <a:xfrm>
            <a:off x="548640" y="3611880"/>
            <a:ext cx="2560320" cy="1874520"/>
          </a:xfrm>
          <a:prstGeom prst="roundRect">
            <a:avLst>
              <a:gd name="adj" fmla="val 5854"/>
            </a:avLst>
          </a:prstGeom>
          <a:solidFill>
            <a:srgbClr val="E0F2EF"/>
          </a:solidFill>
          <a:ln w="12700">
            <a:solidFill>
              <a:srgbClr val="E0F2EF"/>
            </a:solidFill>
            <a:prstDash val="solid"/>
          </a:ln>
          <a:effectLst>
            <a:outerShdw sx="100000" sy="100000" kx="0" ky="0" algn="bl" rotWithShape="0" blurRad="76200" dist="25400" dir="5400000">
              <a:srgbClr val="000000">
                <a:alpha val="12000"/>
              </a:srgbClr>
            </a:outerShdw>
          </a:effectLst>
        </p:spPr>
      </p:sp>
      <p:sp>
        <p:nvSpPr>
          <p:cNvPr id="24" name="step-num"/>
          <p:cNvSpPr/>
          <p:nvPr/>
        </p:nvSpPr>
        <p:spPr>
          <a:xfrm>
            <a:off x="777240" y="3840480"/>
            <a:ext cx="502920" cy="502920"/>
          </a:xfrm>
          <a:prstGeom prst="ellipse">
            <a:avLst/>
          </a:prstGeom>
          <a:solidFill>
            <a:schemeClr val="accent1"/>
          </a:solidFill>
          <a:ln w="12700">
            <a:solidFill>
              <a:schemeClr val="accent1"/>
            </a:solidFill>
            <a:prstDash val="solid"/>
          </a:ln>
        </p:spPr>
      </p:sp>
      <p:sp>
        <p:nvSpPr>
          <p:cNvPr id="25" name="Text 23"/>
          <p:cNvSpPr txBox="1"/>
          <p:nvPr/>
        </p:nvSpPr>
        <p:spPr>
          <a:xfrm>
            <a:off x="777240"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6" name="Text 24"/>
          <p:cNvSpPr txBox="1"/>
          <p:nvPr/>
        </p:nvSpPr>
        <p:spPr>
          <a:xfrm>
            <a:off x="1417320" y="3886200"/>
            <a:ext cx="1554480" cy="411480"/>
          </a:xfrm>
          <a:prstGeom prst="rect">
            <a:avLst/>
          </a:prstGeom>
          <a:noFill/>
          <a:ln/>
        </p:spPr>
        <p:txBody>
          <a:bodyPr wrap="square" lIns="0" tIns="0" rIns="0" bIns="0" rtlCol="0" anchor="t"/>
          <a:lstStyle/>
          <a:p>
            <a:pPr indent="0" marL="0">
              <a:buNone/>
            </a:pPr>
            <a:r>
              <a:rPr lang="en-US" sz="1900" b="1" dirty="0">
                <a:solidFill>
                  <a:schemeClr val="tx2"/>
                </a:solidFill>
              </a:rPr>
              <a:t>Push</a:t>
            </a:r>
            <a:endParaRPr lang="en-US" sz="1900" dirty="0"/>
          </a:p>
        </p:txBody>
      </p:sp>
      <p:sp>
        <p:nvSpPr>
          <p:cNvPr id="27" name="Text 25"/>
          <p:cNvSpPr txBox="1"/>
          <p:nvPr/>
        </p:nvSpPr>
        <p:spPr>
          <a:xfrm>
            <a:off x="777240" y="4480560"/>
            <a:ext cx="2148840" cy="914400"/>
          </a:xfrm>
          <a:prstGeom prst="rect">
            <a:avLst/>
          </a:prstGeom>
          <a:noFill/>
          <a:ln/>
        </p:spPr>
        <p:txBody>
          <a:bodyPr wrap="square" lIns="0" tIns="0" rIns="0" bIns="0" rtlCol="0" anchor="t"/>
          <a:lstStyle/>
          <a:p>
            <a:pPr indent="0" marL="0">
              <a:buNone/>
            </a:pPr>
            <a:r>
              <a:rPr lang="en-US" sz="1300" dirty="0">
                <a:solidFill>
                  <a:schemeClr val="tx1"/>
                </a:solidFill>
              </a:rPr>
              <a:t>GHCR, tag = full commit SHA</a:t>
            </a:r>
            <a:endParaRPr lang="en-US" sz="1300" dirty="0"/>
          </a:p>
        </p:txBody>
      </p:sp>
      <p:sp>
        <p:nvSpPr>
          <p:cNvPr id="28" name="card"/>
          <p:cNvSpPr/>
          <p:nvPr/>
        </p:nvSpPr>
        <p:spPr>
          <a:xfrm>
            <a:off x="3383280" y="3611880"/>
            <a:ext cx="2560320" cy="1874520"/>
          </a:xfrm>
          <a:prstGeom prst="roundRect">
            <a:avLst>
              <a:gd name="adj" fmla="val 5854"/>
            </a:avLst>
          </a:prstGeom>
          <a:solidFill>
            <a:srgbClr val="E0F2EF"/>
          </a:solidFill>
          <a:ln w="12700">
            <a:solidFill>
              <a:srgbClr val="E0F2EF"/>
            </a:solidFill>
            <a:prstDash val="solid"/>
          </a:ln>
          <a:effectLst>
            <a:outerShdw sx="100000" sy="100000" kx="0" ky="0" algn="bl" rotWithShape="0" blurRad="76200" dist="25400" dir="5400000">
              <a:srgbClr val="000000">
                <a:alpha val="12000"/>
              </a:srgbClr>
            </a:outerShdw>
          </a:effectLst>
        </p:spPr>
      </p:sp>
      <p:sp>
        <p:nvSpPr>
          <p:cNvPr id="29" name="step-num"/>
          <p:cNvSpPr/>
          <p:nvPr/>
        </p:nvSpPr>
        <p:spPr>
          <a:xfrm>
            <a:off x="3611880" y="3840480"/>
            <a:ext cx="502920" cy="502920"/>
          </a:xfrm>
          <a:prstGeom prst="ellipse">
            <a:avLst/>
          </a:prstGeom>
          <a:solidFill>
            <a:schemeClr val="accent1"/>
          </a:solidFill>
          <a:ln w="12700">
            <a:solidFill>
              <a:schemeClr val="accent1"/>
            </a:solidFill>
            <a:prstDash val="solid"/>
          </a:ln>
        </p:spPr>
      </p:sp>
      <p:sp>
        <p:nvSpPr>
          <p:cNvPr id="30" name="Text 28"/>
          <p:cNvSpPr txBox="1"/>
          <p:nvPr/>
        </p:nvSpPr>
        <p:spPr>
          <a:xfrm>
            <a:off x="3611880"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1" name="Text 29"/>
          <p:cNvSpPr txBox="1"/>
          <p:nvPr/>
        </p:nvSpPr>
        <p:spPr>
          <a:xfrm>
            <a:off x="4251960" y="3886200"/>
            <a:ext cx="1554480" cy="411480"/>
          </a:xfrm>
          <a:prstGeom prst="rect">
            <a:avLst/>
          </a:prstGeom>
          <a:noFill/>
          <a:ln/>
        </p:spPr>
        <p:txBody>
          <a:bodyPr wrap="square" lIns="0" tIns="0" rIns="0" bIns="0" rtlCol="0" anchor="t"/>
          <a:lstStyle/>
          <a:p>
            <a:pPr indent="0" marL="0">
              <a:buNone/>
            </a:pPr>
            <a:r>
              <a:rPr lang="en-US" sz="1900" b="1" dirty="0">
                <a:solidFill>
                  <a:schemeClr val="tx2"/>
                </a:solidFill>
              </a:rPr>
              <a:t>Smoke</a:t>
            </a:r>
            <a:endParaRPr lang="en-US" sz="1900" dirty="0"/>
          </a:p>
        </p:txBody>
      </p:sp>
      <p:sp>
        <p:nvSpPr>
          <p:cNvPr id="32" name="Text 30"/>
          <p:cNvSpPr txBox="1"/>
          <p:nvPr/>
        </p:nvSpPr>
        <p:spPr>
          <a:xfrm>
            <a:off x="3611880" y="4480560"/>
            <a:ext cx="2148840" cy="914400"/>
          </a:xfrm>
          <a:prstGeom prst="rect">
            <a:avLst/>
          </a:prstGeom>
          <a:noFill/>
          <a:ln/>
        </p:spPr>
        <p:txBody>
          <a:bodyPr wrap="square" lIns="0" tIns="0" rIns="0" bIns="0" rtlCol="0" anchor="t"/>
          <a:lstStyle/>
          <a:p>
            <a:pPr indent="0" marL="0">
              <a:buNone/>
            </a:pPr>
            <a:r>
              <a:rPr lang="en-US" sz="1300" dirty="0">
                <a:solidFill>
                  <a:schemeClr val="tx1"/>
                </a:solidFill>
              </a:rPr>
              <a:t>kind cluster: helm install + helm test</a:t>
            </a:r>
            <a:endParaRPr lang="en-US" sz="1300" dirty="0"/>
          </a:p>
        </p:txBody>
      </p:sp>
      <p:sp>
        <p:nvSpPr>
          <p:cNvPr id="33" name="card"/>
          <p:cNvSpPr/>
          <p:nvPr/>
        </p:nvSpPr>
        <p:spPr>
          <a:xfrm>
            <a:off x="6217920" y="3611880"/>
            <a:ext cx="2560320" cy="1874520"/>
          </a:xfrm>
          <a:prstGeom prst="roundRect">
            <a:avLst>
              <a:gd name="adj" fmla="val 5854"/>
            </a:avLst>
          </a:prstGeom>
          <a:solidFill>
            <a:srgbClr val="E0F2EF"/>
          </a:solidFill>
          <a:ln w="12700">
            <a:solidFill>
              <a:srgbClr val="E0F2EF"/>
            </a:solidFill>
            <a:prstDash val="solid"/>
          </a:ln>
          <a:effectLst>
            <a:outerShdw sx="100000" sy="100000" kx="0" ky="0" algn="bl" rotWithShape="0" blurRad="76200" dist="25400" dir="5400000">
              <a:srgbClr val="000000">
                <a:alpha val="12000"/>
              </a:srgbClr>
            </a:outerShdw>
          </a:effectLst>
        </p:spPr>
      </p:sp>
      <p:sp>
        <p:nvSpPr>
          <p:cNvPr id="34" name="step-num"/>
          <p:cNvSpPr/>
          <p:nvPr/>
        </p:nvSpPr>
        <p:spPr>
          <a:xfrm>
            <a:off x="6446520" y="3840480"/>
            <a:ext cx="502920" cy="502920"/>
          </a:xfrm>
          <a:prstGeom prst="ellipse">
            <a:avLst/>
          </a:prstGeom>
          <a:solidFill>
            <a:schemeClr val="accent1"/>
          </a:solidFill>
          <a:ln w="12700">
            <a:solidFill>
              <a:schemeClr val="accent1"/>
            </a:solidFill>
            <a:prstDash val="solid"/>
          </a:ln>
        </p:spPr>
      </p:sp>
      <p:sp>
        <p:nvSpPr>
          <p:cNvPr id="35" name="Text 33"/>
          <p:cNvSpPr txBox="1"/>
          <p:nvPr/>
        </p:nvSpPr>
        <p:spPr>
          <a:xfrm>
            <a:off x="6446520"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7</a:t>
            </a:r>
            <a:endParaRPr lang="en-US" sz="1600" dirty="0"/>
          </a:p>
        </p:txBody>
      </p:sp>
      <p:sp>
        <p:nvSpPr>
          <p:cNvPr id="36" name="Text 34"/>
          <p:cNvSpPr txBox="1"/>
          <p:nvPr/>
        </p:nvSpPr>
        <p:spPr>
          <a:xfrm>
            <a:off x="7086600" y="3886200"/>
            <a:ext cx="1554480" cy="411480"/>
          </a:xfrm>
          <a:prstGeom prst="rect">
            <a:avLst/>
          </a:prstGeom>
          <a:noFill/>
          <a:ln/>
        </p:spPr>
        <p:txBody>
          <a:bodyPr wrap="square" lIns="0" tIns="0" rIns="0" bIns="0" rtlCol="0" anchor="t"/>
          <a:lstStyle/>
          <a:p>
            <a:pPr indent="0" marL="0">
              <a:buNone/>
            </a:pPr>
            <a:r>
              <a:rPr lang="en-US" sz="1900" b="1" dirty="0">
                <a:solidFill>
                  <a:schemeClr val="tx2"/>
                </a:solidFill>
              </a:rPr>
              <a:t>Promote</a:t>
            </a:r>
            <a:endParaRPr lang="en-US" sz="1900" dirty="0"/>
          </a:p>
        </p:txBody>
      </p:sp>
      <p:sp>
        <p:nvSpPr>
          <p:cNvPr id="37" name="Text 35"/>
          <p:cNvSpPr txBox="1"/>
          <p:nvPr/>
        </p:nvSpPr>
        <p:spPr>
          <a:xfrm>
            <a:off x="6446520" y="4480560"/>
            <a:ext cx="2148840" cy="914400"/>
          </a:xfrm>
          <a:prstGeom prst="rect">
            <a:avLst/>
          </a:prstGeom>
          <a:noFill/>
          <a:ln/>
        </p:spPr>
        <p:txBody>
          <a:bodyPr wrap="square" lIns="0" tIns="0" rIns="0" bIns="0" rtlCol="0" anchor="t"/>
          <a:lstStyle/>
          <a:p>
            <a:pPr indent="0" marL="0">
              <a:buNone/>
            </a:pPr>
            <a:r>
              <a:rPr lang="en-US" sz="1300" dirty="0">
                <a:solidFill>
                  <a:schemeClr val="tx1"/>
                </a:solidFill>
              </a:rPr>
              <a:t>bot commits tag to values-gitops.yaml</a:t>
            </a:r>
            <a:endParaRPr lang="en-US" sz="1300" dirty="0"/>
          </a:p>
        </p:txBody>
      </p:sp>
      <p:sp>
        <p:nvSpPr>
          <p:cNvPr id="38" name="card"/>
          <p:cNvSpPr/>
          <p:nvPr/>
        </p:nvSpPr>
        <p:spPr>
          <a:xfrm>
            <a:off x="9052560" y="3611880"/>
            <a:ext cx="2560320" cy="1874520"/>
          </a:xfrm>
          <a:prstGeom prst="roundRect">
            <a:avLst>
              <a:gd name="adj" fmla="val 5854"/>
            </a:avLst>
          </a:prstGeom>
          <a:solidFill>
            <a:srgbClr val="E0F2EF"/>
          </a:solidFill>
          <a:ln w="12700">
            <a:solidFill>
              <a:srgbClr val="E0F2EF"/>
            </a:solidFill>
            <a:prstDash val="solid"/>
          </a:ln>
          <a:effectLst>
            <a:outerShdw sx="100000" sy="100000" kx="0" ky="0" algn="bl" rotWithShape="0" blurRad="76200" dist="25400" dir="5400000">
              <a:srgbClr val="000000">
                <a:alpha val="12000"/>
              </a:srgbClr>
            </a:outerShdw>
          </a:effectLst>
        </p:spPr>
      </p:sp>
      <p:sp>
        <p:nvSpPr>
          <p:cNvPr id="39" name="step-num"/>
          <p:cNvSpPr/>
          <p:nvPr/>
        </p:nvSpPr>
        <p:spPr>
          <a:xfrm>
            <a:off x="9281160" y="3840480"/>
            <a:ext cx="502920" cy="502920"/>
          </a:xfrm>
          <a:prstGeom prst="ellipse">
            <a:avLst/>
          </a:prstGeom>
          <a:solidFill>
            <a:schemeClr val="accent1"/>
          </a:solidFill>
          <a:ln w="12700">
            <a:solidFill>
              <a:schemeClr val="accent1"/>
            </a:solidFill>
            <a:prstDash val="solid"/>
          </a:ln>
        </p:spPr>
      </p:sp>
      <p:sp>
        <p:nvSpPr>
          <p:cNvPr id="40" name="Text 38"/>
          <p:cNvSpPr txBox="1"/>
          <p:nvPr/>
        </p:nvSpPr>
        <p:spPr>
          <a:xfrm>
            <a:off x="9281160"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8</a:t>
            </a:r>
            <a:endParaRPr lang="en-US" sz="1600" dirty="0"/>
          </a:p>
        </p:txBody>
      </p:sp>
      <p:sp>
        <p:nvSpPr>
          <p:cNvPr id="41" name="Text 39"/>
          <p:cNvSpPr txBox="1"/>
          <p:nvPr/>
        </p:nvSpPr>
        <p:spPr>
          <a:xfrm>
            <a:off x="9921240" y="3886200"/>
            <a:ext cx="1554480" cy="411480"/>
          </a:xfrm>
          <a:prstGeom prst="rect">
            <a:avLst/>
          </a:prstGeom>
          <a:noFill/>
          <a:ln/>
        </p:spPr>
        <p:txBody>
          <a:bodyPr wrap="square" lIns="0" tIns="0" rIns="0" bIns="0" rtlCol="0" anchor="t"/>
          <a:lstStyle/>
          <a:p>
            <a:pPr indent="0" marL="0">
              <a:buNone/>
            </a:pPr>
            <a:r>
              <a:rPr lang="en-US" sz="1900" b="1" dirty="0">
                <a:solidFill>
                  <a:schemeClr val="tx2"/>
                </a:solidFill>
              </a:rPr>
              <a:t>Verify</a:t>
            </a:r>
            <a:endParaRPr lang="en-US" sz="1900" dirty="0"/>
          </a:p>
        </p:txBody>
      </p:sp>
      <p:sp>
        <p:nvSpPr>
          <p:cNvPr id="42" name="Text 40"/>
          <p:cNvSpPr txBox="1"/>
          <p:nvPr/>
        </p:nvSpPr>
        <p:spPr>
          <a:xfrm>
            <a:off x="9281160" y="4480560"/>
            <a:ext cx="2148840" cy="914400"/>
          </a:xfrm>
          <a:prstGeom prst="rect">
            <a:avLst/>
          </a:prstGeom>
          <a:noFill/>
          <a:ln/>
        </p:spPr>
        <p:txBody>
          <a:bodyPr wrap="square" lIns="0" tIns="0" rIns="0" bIns="0" rtlCol="0" anchor="t"/>
          <a:lstStyle/>
          <a:p>
            <a:pPr indent="0" marL="0">
              <a:buNone/>
            </a:pPr>
            <a:r>
              <a:rPr lang="en-US" sz="1300" dirty="0">
                <a:solidFill>
                  <a:schemeClr val="tx1"/>
                </a:solidFill>
              </a:rPr>
              <a:t>OIDC → wait for Argo CD rollout, smoke test</a:t>
            </a:r>
            <a:endParaRPr lang="en-US" sz="1300" dirty="0"/>
          </a:p>
        </p:txBody>
      </p:sp>
      <p:sp>
        <p:nvSpPr>
          <p:cNvPr id="43" name="Text 41"/>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300" dirty="0">
                <a:solidFill>
                  <a:srgbClr val="5D716D"/>
                </a:solidFill>
              </a:rPr>
              <a:t>All third-party actions pinned to commit SHAs · Dependabot keeps them current · PRs run everything except push/deploy</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DevSecOps: Trivy blocks vulnerable images</a:t>
            </a:r>
            <a:endParaRPr lang="en-US" sz="3600" dirty="0"/>
          </a:p>
        </p:txBody>
      </p:sp>
      <p:graphicFrame>
        <p:nvGraphicFramePr>
          <p:cNvPr id="3" name="Chart 0" descr=""/>
          <p:cNvGraphicFramePr/>
          <p:nvPr/>
        </p:nvGraphicFramePr>
        <p:xfrm>
          <a:off x="548640" y="128016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400800" y="1280160"/>
            <a:ext cx="521208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675120" y="1463040"/>
            <a:ext cx="4754880" cy="365760"/>
          </a:xfrm>
          <a:prstGeom prst="rect">
            <a:avLst/>
          </a:prstGeom>
          <a:noFill/>
          <a:ln/>
        </p:spPr>
        <p:txBody>
          <a:bodyPr wrap="square" lIns="0" tIns="0" rIns="0" bIns="0" rtlCol="0" anchor="t"/>
          <a:lstStyle/>
          <a:p>
            <a:pPr indent="0" marL="0">
              <a:buNone/>
            </a:pPr>
            <a:r>
              <a:rPr lang="en-US" sz="1800" b="1" dirty="0">
                <a:solidFill>
                  <a:schemeClr val="tx2"/>
                </a:solidFill>
              </a:rPr>
              <a:t>Backend: 4 HIGH</a:t>
            </a:r>
            <a:endParaRPr lang="en-US" sz="1800" dirty="0"/>
          </a:p>
        </p:txBody>
      </p:sp>
      <p:sp>
        <p:nvSpPr>
          <p:cNvPr id="6" name="Text 3"/>
          <p:cNvSpPr txBox="1"/>
          <p:nvPr/>
        </p:nvSpPr>
        <p:spPr>
          <a:xfrm>
            <a:off x="6675120" y="1874520"/>
            <a:ext cx="4754880" cy="1463040"/>
          </a:xfrm>
          <a:prstGeom prst="rect">
            <a:avLst/>
          </a:prstGeom>
          <a:noFill/>
          <a:ln/>
        </p:spPr>
        <p:txBody>
          <a:bodyPr wrap="square" lIns="0" tIns="0" rIns="0" bIns="0" rtlCol="0" anchor="t"/>
          <a:lstStyle/>
          <a:p>
            <a:pPr indent="0" marL="0">
              <a:buNone/>
            </a:pPr>
            <a:r>
              <a:rPr lang="en-US" sz="1400" dirty="0">
                <a:solidFill>
                  <a:schemeClr val="tx1"/>
                </a:solidFill>
              </a:rPr>
              <a:t>urllib3 CVE-2026-97687 / -97689 and msgpack GHSA-6v7p-g79w-8964 — inside pip's own vendored copies. The app never needs pip at runtime, so it is removed from the image.</a:t>
            </a:r>
            <a:endParaRPr lang="en-US" sz="1400" dirty="0"/>
          </a:p>
        </p:txBody>
      </p:sp>
      <p:sp>
        <p:nvSpPr>
          <p:cNvPr id="7" name="card"/>
          <p:cNvSpPr/>
          <p:nvPr/>
        </p:nvSpPr>
        <p:spPr>
          <a:xfrm>
            <a:off x="6400800" y="3611880"/>
            <a:ext cx="521208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6675120" y="3794760"/>
            <a:ext cx="4754880" cy="365760"/>
          </a:xfrm>
          <a:prstGeom prst="rect">
            <a:avLst/>
          </a:prstGeom>
          <a:noFill/>
          <a:ln/>
        </p:spPr>
        <p:txBody>
          <a:bodyPr wrap="square" lIns="0" tIns="0" rIns="0" bIns="0" rtlCol="0" anchor="t"/>
          <a:lstStyle/>
          <a:p>
            <a:pPr indent="0" marL="0">
              <a:buNone/>
            </a:pPr>
            <a:r>
              <a:rPr lang="en-US" sz="1800" b="1" dirty="0">
                <a:solidFill>
                  <a:schemeClr val="tx2"/>
                </a:solidFill>
              </a:rPr>
              <a:t>Frontend: 43 HIGH</a:t>
            </a:r>
            <a:endParaRPr lang="en-US" sz="1800" dirty="0"/>
          </a:p>
        </p:txBody>
      </p:sp>
      <p:sp>
        <p:nvSpPr>
          <p:cNvPr id="9" name="Text 6"/>
          <p:cNvSpPr txBox="1"/>
          <p:nvPr/>
        </p:nvSpPr>
        <p:spPr>
          <a:xfrm>
            <a:off x="6675120" y="4206240"/>
            <a:ext cx="4754880" cy="1188720"/>
          </a:xfrm>
          <a:prstGeom prst="rect">
            <a:avLst/>
          </a:prstGeom>
          <a:noFill/>
          <a:ln/>
        </p:spPr>
        <p:txBody>
          <a:bodyPr wrap="square" lIns="0" tIns="0" rIns="0" bIns="0" rtlCol="0" anchor="t"/>
          <a:lstStyle/>
          <a:p>
            <a:pPr indent="0" marL="0">
              <a:buNone/>
            </a:pPr>
            <a:r>
              <a:rPr lang="en-US" sz="1400" dirty="0">
                <a:solidFill>
                  <a:schemeClr val="tx1"/>
                </a:solidFill>
              </a:rPr>
              <a:t>Old Alpine packages (curl, c-ares, …) in the nginx base image. Moving to the nginx 1.30 stable base removed all of them.</a:t>
            </a:r>
            <a:endParaRPr lang="en-US" sz="1400" dirty="0"/>
          </a:p>
        </p:txBody>
      </p:sp>
      <p:sp>
        <p:nvSpPr>
          <p:cNvPr id="10" name="Text 7"/>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300" dirty="0">
                <a:solidFill>
                  <a:srgbClr val="5D716D"/>
                </a:solidFill>
              </a:rPr>
              <a:t>Layers: npm audit + Trivy (dependencies) · Trivy gate + SARIF to GitHub Security (containers) · secret scanning · SHA-pinned actions · OIDC instead of AWS keys · restricted pods</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Infrastructure as Code — Terraform on AWS</a:t>
            </a:r>
            <a:endParaRPr lang="en-US" sz="3600" dirty="0"/>
          </a:p>
        </p:txBody>
      </p:sp>
      <p:sp>
        <p:nvSpPr>
          <p:cNvPr id="3" name="Text 1"/>
          <p:cNvSpPr txBox="1"/>
          <p:nvPr/>
        </p:nvSpPr>
        <p:spPr>
          <a:xfrm>
            <a:off x="548640" y="1280160"/>
            <a:ext cx="2651760" cy="731520"/>
          </a:xfrm>
          <a:prstGeom prst="rect">
            <a:avLst/>
          </a:prstGeom>
          <a:noFill/>
          <a:ln/>
        </p:spPr>
        <p:txBody>
          <a:bodyPr wrap="square" lIns="0" tIns="0" rIns="0" bIns="0" rtlCol="0" anchor="t"/>
          <a:lstStyle/>
          <a:p>
            <a:pPr indent="0" marL="0">
              <a:buNone/>
            </a:pPr>
            <a:r>
              <a:rPr lang="en-US" sz="3600" b="1" dirty="0">
                <a:solidFill>
                  <a:schemeClr val="accent1"/>
                </a:solidFill>
              </a:rPr>
              <a:t>69</a:t>
            </a:r>
            <a:endParaRPr lang="en-US" sz="3600" dirty="0"/>
          </a:p>
        </p:txBody>
      </p:sp>
      <p:sp>
        <p:nvSpPr>
          <p:cNvPr id="4" name="Text 2"/>
          <p:cNvSpPr txBox="1"/>
          <p:nvPr/>
        </p:nvSpPr>
        <p:spPr>
          <a:xfrm>
            <a:off x="548640" y="2011680"/>
            <a:ext cx="2651760" cy="365760"/>
          </a:xfrm>
          <a:prstGeom prst="rect">
            <a:avLst/>
          </a:prstGeom>
          <a:noFill/>
          <a:ln/>
        </p:spPr>
        <p:txBody>
          <a:bodyPr wrap="square" lIns="0" tIns="0" rIns="0" bIns="0" rtlCol="0" anchor="t"/>
          <a:lstStyle/>
          <a:p>
            <a:pPr indent="0" marL="0">
              <a:buNone/>
            </a:pPr>
            <a:r>
              <a:rPr lang="en-US" sz="1400" dirty="0">
                <a:solidFill>
                  <a:srgbClr val="5D716D"/>
                </a:solidFill>
              </a:rPr>
              <a:t>resources</a:t>
            </a:r>
            <a:endParaRPr lang="en-US" sz="1400" dirty="0"/>
          </a:p>
        </p:txBody>
      </p:sp>
      <p:sp>
        <p:nvSpPr>
          <p:cNvPr id="5" name="Text 3"/>
          <p:cNvSpPr txBox="1"/>
          <p:nvPr/>
        </p:nvSpPr>
        <p:spPr>
          <a:xfrm>
            <a:off x="3383280" y="1280160"/>
            <a:ext cx="2651760" cy="731520"/>
          </a:xfrm>
          <a:prstGeom prst="rect">
            <a:avLst/>
          </a:prstGeom>
          <a:noFill/>
          <a:ln/>
        </p:spPr>
        <p:txBody>
          <a:bodyPr wrap="square" lIns="0" tIns="0" rIns="0" bIns="0" rtlCol="0" anchor="t"/>
          <a:lstStyle/>
          <a:p>
            <a:pPr indent="0" marL="0">
              <a:buNone/>
            </a:pPr>
            <a:r>
              <a:rPr lang="en-US" sz="3600" b="1" dirty="0">
                <a:solidFill>
                  <a:schemeClr val="accent1"/>
                </a:solidFill>
              </a:rPr>
              <a:t>2</a:t>
            </a:r>
            <a:endParaRPr lang="en-US" sz="3600" dirty="0"/>
          </a:p>
        </p:txBody>
      </p:sp>
      <p:sp>
        <p:nvSpPr>
          <p:cNvPr id="6" name="Text 4"/>
          <p:cNvSpPr txBox="1"/>
          <p:nvPr/>
        </p:nvSpPr>
        <p:spPr>
          <a:xfrm>
            <a:off x="3383280" y="2011680"/>
            <a:ext cx="2651760" cy="365760"/>
          </a:xfrm>
          <a:prstGeom prst="rect">
            <a:avLst/>
          </a:prstGeom>
          <a:noFill/>
          <a:ln/>
        </p:spPr>
        <p:txBody>
          <a:bodyPr wrap="square" lIns="0" tIns="0" rIns="0" bIns="0" rtlCol="0" anchor="t"/>
          <a:lstStyle/>
          <a:p>
            <a:pPr indent="0" marL="0">
              <a:buNone/>
            </a:pPr>
            <a:r>
              <a:rPr lang="en-US" sz="1400" dirty="0">
                <a:solidFill>
                  <a:srgbClr val="5D716D"/>
                </a:solidFill>
              </a:rPr>
              <a:t>availability zones</a:t>
            </a:r>
            <a:endParaRPr lang="en-US" sz="1400" dirty="0"/>
          </a:p>
        </p:txBody>
      </p:sp>
      <p:sp>
        <p:nvSpPr>
          <p:cNvPr id="7" name="Text 5"/>
          <p:cNvSpPr txBox="1"/>
          <p:nvPr/>
        </p:nvSpPr>
        <p:spPr>
          <a:xfrm>
            <a:off x="6217920" y="1280160"/>
            <a:ext cx="2651760" cy="731520"/>
          </a:xfrm>
          <a:prstGeom prst="rect">
            <a:avLst/>
          </a:prstGeom>
          <a:noFill/>
          <a:ln/>
        </p:spPr>
        <p:txBody>
          <a:bodyPr wrap="square" lIns="0" tIns="0" rIns="0" bIns="0" rtlCol="0" anchor="t"/>
          <a:lstStyle/>
          <a:p>
            <a:pPr indent="0" marL="0">
              <a:buNone/>
            </a:pPr>
            <a:r>
              <a:rPr lang="en-US" sz="3600" b="1" dirty="0">
                <a:solidFill>
                  <a:schemeClr val="accent1"/>
                </a:solidFill>
              </a:rPr>
              <a:t>3 + 1</a:t>
            </a:r>
            <a:endParaRPr lang="en-US" sz="3600" dirty="0"/>
          </a:p>
        </p:txBody>
      </p:sp>
      <p:sp>
        <p:nvSpPr>
          <p:cNvPr id="8" name="Text 6"/>
          <p:cNvSpPr txBox="1"/>
          <p:nvPr/>
        </p:nvSpPr>
        <p:spPr>
          <a:xfrm>
            <a:off x="6217920" y="2011680"/>
            <a:ext cx="2651760" cy="365760"/>
          </a:xfrm>
          <a:prstGeom prst="rect">
            <a:avLst/>
          </a:prstGeom>
          <a:noFill/>
          <a:ln/>
        </p:spPr>
        <p:txBody>
          <a:bodyPr wrap="square" lIns="0" tIns="0" rIns="0" bIns="0" rtlCol="0" anchor="t"/>
          <a:lstStyle/>
          <a:p>
            <a:pPr indent="0" marL="0">
              <a:buNone/>
            </a:pPr>
            <a:r>
              <a:rPr lang="en-US" sz="1400" dirty="0">
                <a:solidFill>
                  <a:srgbClr val="5D716D"/>
                </a:solidFill>
              </a:rPr>
              <a:t>nodes (app + edge)</a:t>
            </a:r>
            <a:endParaRPr lang="en-US" sz="1400" dirty="0"/>
          </a:p>
        </p:txBody>
      </p:sp>
      <p:sp>
        <p:nvSpPr>
          <p:cNvPr id="9" name="Text 7"/>
          <p:cNvSpPr txBox="1"/>
          <p:nvPr/>
        </p:nvSpPr>
        <p:spPr>
          <a:xfrm>
            <a:off x="9052560" y="1280160"/>
            <a:ext cx="2651760" cy="731520"/>
          </a:xfrm>
          <a:prstGeom prst="rect">
            <a:avLst/>
          </a:prstGeom>
          <a:noFill/>
          <a:ln/>
        </p:spPr>
        <p:txBody>
          <a:bodyPr wrap="square" lIns="0" tIns="0" rIns="0" bIns="0" rtlCol="0" anchor="t"/>
          <a:lstStyle/>
          <a:p>
            <a:pPr indent="0" marL="0">
              <a:buNone/>
            </a:pPr>
            <a:r>
              <a:rPr lang="en-US" sz="3600" b="1" dirty="0">
                <a:solidFill>
                  <a:schemeClr val="accent1"/>
                </a:solidFill>
              </a:rPr>
              <a:t>≈ $0.32</a:t>
            </a:r>
            <a:endParaRPr lang="en-US" sz="3600" dirty="0"/>
          </a:p>
        </p:txBody>
      </p:sp>
      <p:sp>
        <p:nvSpPr>
          <p:cNvPr id="10" name="Text 8"/>
          <p:cNvSpPr txBox="1"/>
          <p:nvPr/>
        </p:nvSpPr>
        <p:spPr>
          <a:xfrm>
            <a:off x="9052560" y="2011680"/>
            <a:ext cx="2651760" cy="365760"/>
          </a:xfrm>
          <a:prstGeom prst="rect">
            <a:avLst/>
          </a:prstGeom>
          <a:noFill/>
          <a:ln/>
        </p:spPr>
        <p:txBody>
          <a:bodyPr wrap="square" lIns="0" tIns="0" rIns="0" bIns="0" rtlCol="0" anchor="t"/>
          <a:lstStyle/>
          <a:p>
            <a:pPr indent="0" marL="0">
              <a:buNone/>
            </a:pPr>
            <a:r>
              <a:rPr lang="en-US" sz="1400" dirty="0">
                <a:solidFill>
                  <a:srgbClr val="5D716D"/>
                </a:solidFill>
              </a:rPr>
              <a:t>per hour</a:t>
            </a:r>
            <a:endParaRPr lang="en-US" sz="1400" dirty="0"/>
          </a:p>
        </p:txBody>
      </p:sp>
      <p:sp>
        <p:nvSpPr>
          <p:cNvPr id="11" name="card"/>
          <p:cNvSpPr/>
          <p:nvPr/>
        </p:nvSpPr>
        <p:spPr>
          <a:xfrm>
            <a:off x="548640" y="2697480"/>
            <a:ext cx="352044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icon-circle"/>
          <p:cNvSpPr/>
          <p:nvPr/>
        </p:nvSpPr>
        <p:spPr>
          <a:xfrm>
            <a:off x="822960" y="2926080"/>
            <a:ext cx="566928" cy="566928"/>
          </a:xfrm>
          <a:prstGeom prst="ellipse">
            <a:avLst/>
          </a:prstGeom>
          <a:solidFill>
            <a:schemeClr val="accent1"/>
          </a:solidFill>
          <a:ln w="12700">
            <a:solidFill>
              <a:schemeClr val="accent1"/>
            </a:solidFill>
            <a:prstDash val="solid"/>
          </a:ln>
        </p:spPr>
      </p:sp>
      <p:pic>
        <p:nvPicPr>
          <p:cNvPr id="13" name="icon" descr="preencoded.png">    </p:cNvPr>
          <p:cNvPicPr>
            <a:picLocks noChangeAspect="1"/>
          </p:cNvPicPr>
          <p:nvPr/>
        </p:nvPicPr>
        <p:blipFill>
          <a:blip r:embed="rId1"/>
          <a:stretch>
            <a:fillRect/>
          </a:stretch>
        </p:blipFill>
        <p:spPr>
          <a:xfrm>
            <a:off x="959023" y="3062143"/>
            <a:ext cx="294803" cy="294803"/>
          </a:xfrm>
          <a:prstGeom prst="rect">
            <a:avLst/>
          </a:prstGeom>
        </p:spPr>
      </p:pic>
      <p:sp>
        <p:nvSpPr>
          <p:cNvPr id="14" name="Text 11"/>
          <p:cNvSpPr txBox="1"/>
          <p:nvPr/>
        </p:nvSpPr>
        <p:spPr>
          <a:xfrm>
            <a:off x="1554480" y="3017520"/>
            <a:ext cx="2286000" cy="411480"/>
          </a:xfrm>
          <a:prstGeom prst="rect">
            <a:avLst/>
          </a:prstGeom>
          <a:noFill/>
          <a:ln/>
        </p:spPr>
        <p:txBody>
          <a:bodyPr wrap="square" lIns="0" tIns="0" rIns="0" bIns="0" rtlCol="0" anchor="t"/>
          <a:lstStyle/>
          <a:p>
            <a:pPr indent="0" marL="0">
              <a:buNone/>
            </a:pPr>
            <a:r>
              <a:rPr lang="en-US" sz="1900" b="1" dirty="0">
                <a:solidFill>
                  <a:schemeClr val="tx2"/>
                </a:solidFill>
              </a:rPr>
              <a:t>Network</a:t>
            </a:r>
            <a:endParaRPr lang="en-US" sz="1900" dirty="0"/>
          </a:p>
        </p:txBody>
      </p:sp>
      <p:sp>
        <p:nvSpPr>
          <p:cNvPr id="15" name="Text 12"/>
          <p:cNvSpPr txBox="1"/>
          <p:nvPr/>
        </p:nvSpPr>
        <p:spPr>
          <a:xfrm>
            <a:off x="822960" y="3657600"/>
            <a:ext cx="3017520" cy="1691640"/>
          </a:xfrm>
          <a:prstGeom prst="rect">
            <a:avLst/>
          </a:prstGeom>
          <a:noFill/>
          <a:ln/>
        </p:spPr>
        <p:txBody>
          <a:bodyPr wrap="square" lIns="0" tIns="0" rIns="0" bIns="0" rtlCol="0" anchor="t"/>
          <a:lstStyle/>
          <a:p>
            <a:pPr indent="0" marL="0">
              <a:buNone/>
            </a:pPr>
            <a:r>
              <a:rPr lang="en-US" sz="1400" dirty="0">
                <a:solidFill>
                  <a:schemeClr val="tx1"/>
                </a:solidFill>
              </a:rPr>
              <a:t>VPC 10.40.0.0/16, public + private subnets in 2 AZs, Internet Gateway, one NAT gateway</a:t>
            </a:r>
            <a:endParaRPr lang="en-US" sz="1400" dirty="0"/>
          </a:p>
        </p:txBody>
      </p:sp>
      <p:sp>
        <p:nvSpPr>
          <p:cNvPr id="16" name="card"/>
          <p:cNvSpPr/>
          <p:nvPr/>
        </p:nvSpPr>
        <p:spPr>
          <a:xfrm>
            <a:off x="4297680" y="2697480"/>
            <a:ext cx="352044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icon-circle"/>
          <p:cNvSpPr/>
          <p:nvPr/>
        </p:nvSpPr>
        <p:spPr>
          <a:xfrm>
            <a:off x="4572000" y="2926080"/>
            <a:ext cx="566928" cy="566928"/>
          </a:xfrm>
          <a:prstGeom prst="ellipse">
            <a:avLst/>
          </a:prstGeom>
          <a:solidFill>
            <a:schemeClr val="accent1"/>
          </a:solidFill>
          <a:ln w="12700">
            <a:solidFill>
              <a:schemeClr val="accent1"/>
            </a:solidFill>
            <a:prstDash val="solid"/>
          </a:ln>
        </p:spPr>
      </p:sp>
      <p:pic>
        <p:nvPicPr>
          <p:cNvPr id="18" name="icon" descr="preencoded.png">    </p:cNvPr>
          <p:cNvPicPr>
            <a:picLocks noChangeAspect="1"/>
          </p:cNvPicPr>
          <p:nvPr/>
        </p:nvPicPr>
        <p:blipFill>
          <a:blip r:embed="rId2"/>
          <a:stretch>
            <a:fillRect/>
          </a:stretch>
        </p:blipFill>
        <p:spPr>
          <a:xfrm>
            <a:off x="4708063" y="3062143"/>
            <a:ext cx="294803" cy="294803"/>
          </a:xfrm>
          <a:prstGeom prst="rect">
            <a:avLst/>
          </a:prstGeom>
        </p:spPr>
      </p:pic>
      <p:sp>
        <p:nvSpPr>
          <p:cNvPr id="19" name="Text 15"/>
          <p:cNvSpPr txBox="1"/>
          <p:nvPr/>
        </p:nvSpPr>
        <p:spPr>
          <a:xfrm>
            <a:off x="5303520" y="3017520"/>
            <a:ext cx="2286000" cy="411480"/>
          </a:xfrm>
          <a:prstGeom prst="rect">
            <a:avLst/>
          </a:prstGeom>
          <a:noFill/>
          <a:ln/>
        </p:spPr>
        <p:txBody>
          <a:bodyPr wrap="square" lIns="0" tIns="0" rIns="0" bIns="0" rtlCol="0" anchor="t"/>
          <a:lstStyle/>
          <a:p>
            <a:pPr indent="0" marL="0">
              <a:buNone/>
            </a:pPr>
            <a:r>
              <a:rPr lang="en-US" sz="1900" b="1" dirty="0">
                <a:solidFill>
                  <a:schemeClr val="tx2"/>
                </a:solidFill>
              </a:rPr>
              <a:t>EKS</a:t>
            </a:r>
            <a:endParaRPr lang="en-US" sz="1900" dirty="0"/>
          </a:p>
        </p:txBody>
      </p:sp>
      <p:sp>
        <p:nvSpPr>
          <p:cNvPr id="20" name="Text 16"/>
          <p:cNvSpPr txBox="1"/>
          <p:nvPr/>
        </p:nvSpPr>
        <p:spPr>
          <a:xfrm>
            <a:off x="4572000" y="3657600"/>
            <a:ext cx="3017520" cy="1691640"/>
          </a:xfrm>
          <a:prstGeom prst="rect">
            <a:avLst/>
          </a:prstGeom>
          <a:noFill/>
          <a:ln/>
        </p:spPr>
        <p:txBody>
          <a:bodyPr wrap="square" lIns="0" tIns="0" rIns="0" bIns="0" rtlCol="0" anchor="t"/>
          <a:lstStyle/>
          <a:p>
            <a:pPr indent="0" marL="0">
              <a:buNone/>
            </a:pPr>
            <a:r>
              <a:rPr lang="en-US" sz="1400" dirty="0">
                <a:solidFill>
                  <a:schemeClr val="tx1"/>
                </a:solidFill>
              </a:rPr>
              <a:t>Kubernetes 1.36, managed node group 3 × t3.medium in private subnets; add-ons: VPC CNI, CoreDNS, kube-proxy, Pod Identity, EBS CSI, metrics-server</a:t>
            </a:r>
            <a:endParaRPr lang="en-US" sz="1400" dirty="0"/>
          </a:p>
        </p:txBody>
      </p:sp>
      <p:sp>
        <p:nvSpPr>
          <p:cNvPr id="21" name="card"/>
          <p:cNvSpPr/>
          <p:nvPr/>
        </p:nvSpPr>
        <p:spPr>
          <a:xfrm>
            <a:off x="8046720" y="2697480"/>
            <a:ext cx="352044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icon-circle"/>
          <p:cNvSpPr/>
          <p:nvPr/>
        </p:nvSpPr>
        <p:spPr>
          <a:xfrm>
            <a:off x="8321040" y="2926080"/>
            <a:ext cx="566928" cy="566928"/>
          </a:xfrm>
          <a:prstGeom prst="ellipse">
            <a:avLst/>
          </a:prstGeom>
          <a:solidFill>
            <a:schemeClr val="accent1"/>
          </a:solidFill>
          <a:ln w="12700">
            <a:solidFill>
              <a:schemeClr val="accent1"/>
            </a:solidFill>
            <a:prstDash val="solid"/>
          </a:ln>
        </p:spPr>
      </p:sp>
      <p:pic>
        <p:nvPicPr>
          <p:cNvPr id="23" name="icon" descr="preencoded.png">    </p:cNvPr>
          <p:cNvPicPr>
            <a:picLocks noChangeAspect="1"/>
          </p:cNvPicPr>
          <p:nvPr/>
        </p:nvPicPr>
        <p:blipFill>
          <a:blip r:embed="rId3"/>
          <a:stretch>
            <a:fillRect/>
          </a:stretch>
        </p:blipFill>
        <p:spPr>
          <a:xfrm>
            <a:off x="8457103" y="3062143"/>
            <a:ext cx="294803" cy="294803"/>
          </a:xfrm>
          <a:prstGeom prst="rect">
            <a:avLst/>
          </a:prstGeom>
        </p:spPr>
      </p:pic>
      <p:sp>
        <p:nvSpPr>
          <p:cNvPr id="24" name="Text 19"/>
          <p:cNvSpPr txBox="1"/>
          <p:nvPr/>
        </p:nvSpPr>
        <p:spPr>
          <a:xfrm>
            <a:off x="9052560" y="3017520"/>
            <a:ext cx="2286000" cy="411480"/>
          </a:xfrm>
          <a:prstGeom prst="rect">
            <a:avLst/>
          </a:prstGeom>
          <a:noFill/>
          <a:ln/>
        </p:spPr>
        <p:txBody>
          <a:bodyPr wrap="square" lIns="0" tIns="0" rIns="0" bIns="0" rtlCol="0" anchor="t"/>
          <a:lstStyle/>
          <a:p>
            <a:pPr indent="0" marL="0">
              <a:buNone/>
            </a:pPr>
            <a:r>
              <a:rPr lang="en-US" sz="1900" b="1" dirty="0">
                <a:solidFill>
                  <a:schemeClr val="tx2"/>
                </a:solidFill>
              </a:rPr>
              <a:t>IAM</a:t>
            </a:r>
            <a:endParaRPr lang="en-US" sz="1900" dirty="0"/>
          </a:p>
        </p:txBody>
      </p:sp>
      <p:sp>
        <p:nvSpPr>
          <p:cNvPr id="25" name="Text 20"/>
          <p:cNvSpPr txBox="1"/>
          <p:nvPr/>
        </p:nvSpPr>
        <p:spPr>
          <a:xfrm>
            <a:off x="8321040" y="3657600"/>
            <a:ext cx="3017520" cy="1691640"/>
          </a:xfrm>
          <a:prstGeom prst="rect">
            <a:avLst/>
          </a:prstGeom>
          <a:noFill/>
          <a:ln/>
        </p:spPr>
        <p:txBody>
          <a:bodyPr wrap="square" lIns="0" tIns="0" rIns="0" bIns="0" rtlCol="0" anchor="t"/>
          <a:lstStyle/>
          <a:p>
            <a:pPr indent="0" marL="0">
              <a:buNone/>
            </a:pPr>
            <a:r>
              <a:rPr lang="en-US" sz="1400" dirty="0">
                <a:solidFill>
                  <a:schemeClr val="tx1"/>
                </a:solidFill>
              </a:rPr>
              <a:t>EBS CSI role via Pod Identity; GitHub OIDC provider + deploy role trusted only for this repo's production environment</a:t>
            </a:r>
            <a:endParaRPr lang="en-US" sz="1400" dirty="0"/>
          </a:p>
        </p:txBody>
      </p:sp>
      <p:sp>
        <p:nvSpPr>
          <p:cNvPr id="26" name="Text 21"/>
          <p:cNvSpPr txBox="1"/>
          <p:nvPr/>
        </p:nvSpPr>
        <p:spPr>
          <a:xfrm>
            <a:off x="548640" y="5349240"/>
            <a:ext cx="11064240" cy="457200"/>
          </a:xfrm>
          <a:prstGeom prst="rect">
            <a:avLst/>
          </a:prstGeom>
          <a:noFill/>
          <a:ln/>
        </p:spPr>
        <p:txBody>
          <a:bodyPr wrap="square" lIns="0" tIns="0" rIns="0" bIns="0" rtlCol="0" anchor="t"/>
          <a:lstStyle/>
          <a:p>
            <a:pPr indent="0" marL="0">
              <a:buNone/>
            </a:pPr>
            <a:r>
              <a:rPr lang="en-US" sz="1300" dirty="0">
                <a:solidFill>
                  <a:srgbClr val="5D716D"/>
                </a:solidFill>
              </a:rPr>
              <a:t>terraform init → plan → apply (~15 min) · scripts/eks-down.sh removes Kubernetes-created volumes, then terraform destroy</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Kubernetes, Helm and GitOps with Argo CD</a:t>
            </a:r>
            <a:endParaRPr lang="en-US" sz="3600" dirty="0"/>
          </a:p>
        </p:txBody>
      </p:sp>
      <p:sp>
        <p:nvSpPr>
          <p:cNvPr id="3" name="card"/>
          <p:cNvSpPr/>
          <p:nvPr/>
        </p:nvSpPr>
        <p:spPr>
          <a:xfrm>
            <a:off x="548640" y="1325880"/>
            <a:ext cx="5120640" cy="4160520"/>
          </a:xfrm>
          <a:prstGeom prst="roundRect">
            <a:avLst>
              <a:gd name="adj" fmla="val 26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circle"/>
          <p:cNvSpPr/>
          <p:nvPr/>
        </p:nvSpPr>
        <p:spPr>
          <a:xfrm>
            <a:off x="822960" y="1600200"/>
            <a:ext cx="566928" cy="566928"/>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959023" y="1736263"/>
            <a:ext cx="294803" cy="294803"/>
          </a:xfrm>
          <a:prstGeom prst="rect">
            <a:avLst/>
          </a:prstGeom>
        </p:spPr>
      </p:pic>
      <p:sp>
        <p:nvSpPr>
          <p:cNvPr id="6" name="Text 3"/>
          <p:cNvSpPr txBox="1"/>
          <p:nvPr/>
        </p:nvSpPr>
        <p:spPr>
          <a:xfrm>
            <a:off x="1554480" y="1691640"/>
            <a:ext cx="3931920" cy="411480"/>
          </a:xfrm>
          <a:prstGeom prst="rect">
            <a:avLst/>
          </a:prstGeom>
          <a:noFill/>
          <a:ln/>
        </p:spPr>
        <p:txBody>
          <a:bodyPr wrap="square" lIns="0" tIns="0" rIns="0" bIns="0" rtlCol="0" anchor="t"/>
          <a:lstStyle/>
          <a:p>
            <a:pPr indent="0" marL="0">
              <a:buNone/>
            </a:pPr>
            <a:r>
              <a:rPr lang="en-US" sz="1800" b="1" dirty="0">
                <a:solidFill>
                  <a:schemeClr val="tx2"/>
                </a:solidFill>
              </a:rPr>
              <a:t>Helm chart: helm/clinicflow</a:t>
            </a:r>
            <a:endParaRPr lang="en-US" sz="1800" dirty="0"/>
          </a:p>
        </p:txBody>
      </p:sp>
      <p:sp>
        <p:nvSpPr>
          <p:cNvPr id="7" name="Text 4"/>
          <p:cNvSpPr txBox="1"/>
          <p:nvPr/>
        </p:nvSpPr>
        <p:spPr>
          <a:xfrm>
            <a:off x="822960" y="2377440"/>
            <a:ext cx="457200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Deployments: backend 2–8 pods (HPA), frontend 2 pods, zero-downtime rolling updates</a:t>
            </a:r>
            <a:endParaRPr lang="en-US" sz="1400" dirty="0"/>
          </a:p>
          <a:p>
            <a:pPr marL="342900" indent="-342900">
              <a:spcAft>
                <a:spcPts val="800"/>
              </a:spcAft>
              <a:buSzPct val="100000"/>
              <a:buChar char="•"/>
            </a:pPr>
            <a:r>
              <a:rPr lang="en-US" sz="1400" dirty="0">
                <a:solidFill>
                  <a:schemeClr val="tx1"/>
                </a:solidFill>
              </a:rPr>
              <a:t>Startup, readiness (/ready checks DB) and liveness probes</a:t>
            </a:r>
            <a:endParaRPr lang="en-US" sz="1400" dirty="0"/>
          </a:p>
          <a:p>
            <a:pPr marL="342900" indent="-342900">
              <a:spcAft>
                <a:spcPts val="800"/>
              </a:spcAft>
              <a:buSzPct val="100000"/>
              <a:buChar char="•"/>
            </a:pPr>
            <a:r>
              <a:rPr lang="en-US" sz="1400" dirty="0">
                <a:solidFill>
                  <a:schemeClr val="tx1"/>
                </a:solidFill>
              </a:rPr>
              <a:t>PostgreSQL StatefulSet + 5 Gi gp3 PersistentVolume</a:t>
            </a:r>
            <a:endParaRPr lang="en-US" sz="1400" dirty="0"/>
          </a:p>
          <a:p>
            <a:pPr marL="342900" indent="-342900">
              <a:spcAft>
                <a:spcPts val="800"/>
              </a:spcAft>
              <a:buSzPct val="100000"/>
              <a:buChar char="•"/>
            </a:pPr>
            <a:r>
              <a:rPr lang="en-US" sz="1400" dirty="0">
                <a:solidFill>
                  <a:schemeClr val="tx1"/>
                </a:solidFill>
              </a:rPr>
              <a:t>Ingress: / → frontend, /api → backend</a:t>
            </a:r>
            <a:endParaRPr lang="en-US" sz="1400" dirty="0"/>
          </a:p>
          <a:p>
            <a:pPr marL="342900" indent="-342900">
              <a:spcAft>
                <a:spcPts val="800"/>
              </a:spcAft>
              <a:buSzPct val="100000"/>
              <a:buChar char="•"/>
            </a:pPr>
            <a:r>
              <a:rPr lang="en-US" sz="1400" dirty="0">
                <a:solidFill>
                  <a:schemeClr val="tx1"/>
                </a:solidFill>
              </a:rPr>
              <a:t>PodDisruptionBudgets, ServiceMonitor, alert rules, Grafana dashboard</a:t>
            </a:r>
            <a:endParaRPr lang="en-US" sz="1400" dirty="0"/>
          </a:p>
        </p:txBody>
      </p:sp>
      <p:sp>
        <p:nvSpPr>
          <p:cNvPr id="8" name="card"/>
          <p:cNvSpPr/>
          <p:nvPr/>
        </p:nvSpPr>
        <p:spPr>
          <a:xfrm>
            <a:off x="6035040" y="1325880"/>
            <a:ext cx="5577840" cy="4160520"/>
          </a:xfrm>
          <a:prstGeom prst="roundRect">
            <a:avLst>
              <a:gd name="adj" fmla="val 2637"/>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9" name="icon-circle"/>
          <p:cNvSpPr/>
          <p:nvPr/>
        </p:nvSpPr>
        <p:spPr>
          <a:xfrm>
            <a:off x="6309360" y="1600200"/>
            <a:ext cx="566928" cy="566928"/>
          </a:xfrm>
          <a:prstGeom prst="ellipse">
            <a:avLst/>
          </a:prstGeom>
          <a:solidFill>
            <a:schemeClr val="accent3"/>
          </a:solidFill>
          <a:ln w="12700">
            <a:solidFill>
              <a:schemeClr val="accent3"/>
            </a:solidFill>
            <a:prstDash val="solid"/>
          </a:ln>
        </p:spPr>
      </p:sp>
      <p:pic>
        <p:nvPicPr>
          <p:cNvPr id="10" name="icon" descr="preencoded.png">    </p:cNvPr>
          <p:cNvPicPr>
            <a:picLocks noChangeAspect="1"/>
          </p:cNvPicPr>
          <p:nvPr/>
        </p:nvPicPr>
        <p:blipFill>
          <a:blip r:embed="rId2"/>
          <a:stretch>
            <a:fillRect/>
          </a:stretch>
        </p:blipFill>
        <p:spPr>
          <a:xfrm>
            <a:off x="6445423" y="1736263"/>
            <a:ext cx="294803" cy="294803"/>
          </a:xfrm>
          <a:prstGeom prst="rect">
            <a:avLst/>
          </a:prstGeom>
        </p:spPr>
      </p:pic>
      <p:sp>
        <p:nvSpPr>
          <p:cNvPr id="11" name="Text 7"/>
          <p:cNvSpPr txBox="1"/>
          <p:nvPr/>
        </p:nvSpPr>
        <p:spPr>
          <a:xfrm>
            <a:off x="7040880" y="1691640"/>
            <a:ext cx="4206240" cy="411480"/>
          </a:xfrm>
          <a:prstGeom prst="rect">
            <a:avLst/>
          </a:prstGeom>
          <a:noFill/>
          <a:ln/>
        </p:spPr>
        <p:txBody>
          <a:bodyPr wrap="square" lIns="0" tIns="0" rIns="0" bIns="0" rtlCol="0" anchor="t"/>
          <a:lstStyle/>
          <a:p>
            <a:pPr indent="0" marL="0">
              <a:buNone/>
            </a:pPr>
            <a:r>
              <a:rPr lang="en-US" sz="1800" b="1" dirty="0">
                <a:solidFill>
                  <a:srgbClr val="FFFFFF"/>
                </a:solidFill>
              </a:rPr>
              <a:t>GitOps flow</a:t>
            </a:r>
            <a:endParaRPr lang="en-US" sz="1800" dirty="0"/>
          </a:p>
        </p:txBody>
      </p:sp>
      <p:sp>
        <p:nvSpPr>
          <p:cNvPr id="12" name="flow-num"/>
          <p:cNvSpPr/>
          <p:nvPr/>
        </p:nvSpPr>
        <p:spPr>
          <a:xfrm>
            <a:off x="6355080" y="2377440"/>
            <a:ext cx="384048" cy="384048"/>
          </a:xfrm>
          <a:prstGeom prst="ellipse">
            <a:avLst/>
          </a:prstGeom>
          <a:solidFill>
            <a:schemeClr val="accent2"/>
          </a:solidFill>
          <a:ln w="12700">
            <a:solidFill>
              <a:schemeClr val="accent2"/>
            </a:solidFill>
            <a:prstDash val="solid"/>
          </a:ln>
        </p:spPr>
      </p:sp>
      <p:sp>
        <p:nvSpPr>
          <p:cNvPr id="13" name="Text 9"/>
          <p:cNvSpPr txBox="1"/>
          <p:nvPr/>
        </p:nvSpPr>
        <p:spPr>
          <a:xfrm>
            <a:off x="6355080" y="2377440"/>
            <a:ext cx="384048" cy="384048"/>
          </a:xfrm>
          <a:prstGeom prst="rect">
            <a:avLst/>
          </a:prstGeom>
          <a:noFill/>
          <a:ln/>
        </p:spPr>
        <p:txBody>
          <a:bodyPr wrap="square" lIns="0" tIns="0" rIns="0" bIns="0" rtlCol="0" anchor="ctr"/>
          <a:lstStyle/>
          <a:p>
            <a:pPr algn="ctr" indent="0" marL="0">
              <a:buNone/>
            </a:pPr>
            <a:r>
              <a:rPr lang="en-US" sz="1300" b="1" dirty="0">
                <a:solidFill>
                  <a:srgbClr val="0B2B29"/>
                </a:solidFill>
              </a:rPr>
              <a:t>1</a:t>
            </a:r>
            <a:endParaRPr lang="en-US" sz="1300" dirty="0"/>
          </a:p>
        </p:txBody>
      </p:sp>
      <p:sp>
        <p:nvSpPr>
          <p:cNvPr id="14" name="Text 10"/>
          <p:cNvSpPr txBox="1"/>
          <p:nvPr/>
        </p:nvSpPr>
        <p:spPr>
          <a:xfrm>
            <a:off x="6903720" y="2404872"/>
            <a:ext cx="4526280" cy="411480"/>
          </a:xfrm>
          <a:prstGeom prst="rect">
            <a:avLst/>
          </a:prstGeom>
          <a:noFill/>
          <a:ln/>
        </p:spPr>
        <p:txBody>
          <a:bodyPr wrap="square" lIns="0" tIns="0" rIns="0" bIns="0" rtlCol="0" anchor="t"/>
          <a:lstStyle/>
          <a:p>
            <a:pPr indent="0" marL="0">
              <a:buNone/>
            </a:pPr>
            <a:r>
              <a:rPr lang="en-US" sz="1400" dirty="0">
                <a:solidFill>
                  <a:srgbClr val="E0F2EF"/>
                </a:solidFill>
              </a:rPr>
              <a:t>CI pushes scanned image  ghcr.io/…:SHA</a:t>
            </a:r>
            <a:endParaRPr lang="en-US" sz="1400" dirty="0"/>
          </a:p>
        </p:txBody>
      </p:sp>
      <p:sp>
        <p:nvSpPr>
          <p:cNvPr id="15" name="flow-num"/>
          <p:cNvSpPr/>
          <p:nvPr/>
        </p:nvSpPr>
        <p:spPr>
          <a:xfrm>
            <a:off x="6355080" y="2980944"/>
            <a:ext cx="384048" cy="384048"/>
          </a:xfrm>
          <a:prstGeom prst="ellipse">
            <a:avLst/>
          </a:prstGeom>
          <a:solidFill>
            <a:schemeClr val="accent2"/>
          </a:solidFill>
          <a:ln w="12700">
            <a:solidFill>
              <a:schemeClr val="accent2"/>
            </a:solidFill>
            <a:prstDash val="solid"/>
          </a:ln>
        </p:spPr>
      </p:sp>
      <p:sp>
        <p:nvSpPr>
          <p:cNvPr id="16" name="Text 12"/>
          <p:cNvSpPr txBox="1"/>
          <p:nvPr/>
        </p:nvSpPr>
        <p:spPr>
          <a:xfrm>
            <a:off x="6355080" y="2980944"/>
            <a:ext cx="384048" cy="384048"/>
          </a:xfrm>
          <a:prstGeom prst="rect">
            <a:avLst/>
          </a:prstGeom>
          <a:noFill/>
          <a:ln/>
        </p:spPr>
        <p:txBody>
          <a:bodyPr wrap="square" lIns="0" tIns="0" rIns="0" bIns="0" rtlCol="0" anchor="ctr"/>
          <a:lstStyle/>
          <a:p>
            <a:pPr algn="ctr" indent="0" marL="0">
              <a:buNone/>
            </a:pPr>
            <a:r>
              <a:rPr lang="en-US" sz="1300" b="1" dirty="0">
                <a:solidFill>
                  <a:srgbClr val="0B2B29"/>
                </a:solidFill>
              </a:rPr>
              <a:t>2</a:t>
            </a:r>
            <a:endParaRPr lang="en-US" sz="1300" dirty="0"/>
          </a:p>
        </p:txBody>
      </p:sp>
      <p:sp>
        <p:nvSpPr>
          <p:cNvPr id="17" name="Text 13"/>
          <p:cNvSpPr txBox="1"/>
          <p:nvPr/>
        </p:nvSpPr>
        <p:spPr>
          <a:xfrm>
            <a:off x="6903720" y="3008376"/>
            <a:ext cx="4526280" cy="411480"/>
          </a:xfrm>
          <a:prstGeom prst="rect">
            <a:avLst/>
          </a:prstGeom>
          <a:noFill/>
          <a:ln/>
        </p:spPr>
        <p:txBody>
          <a:bodyPr wrap="square" lIns="0" tIns="0" rIns="0" bIns="0" rtlCol="0" anchor="t"/>
          <a:lstStyle/>
          <a:p>
            <a:pPr indent="0" marL="0">
              <a:buNone/>
            </a:pPr>
            <a:r>
              <a:rPr lang="en-US" sz="1400" dirty="0">
                <a:solidFill>
                  <a:srgbClr val="E0F2EF"/>
                </a:solidFill>
              </a:rPr>
              <a:t>CI commits the tag to values-gitops.yaml</a:t>
            </a:r>
            <a:endParaRPr lang="en-US" sz="1400" dirty="0"/>
          </a:p>
        </p:txBody>
      </p:sp>
      <p:sp>
        <p:nvSpPr>
          <p:cNvPr id="18" name="flow-num"/>
          <p:cNvSpPr/>
          <p:nvPr/>
        </p:nvSpPr>
        <p:spPr>
          <a:xfrm>
            <a:off x="6355080" y="3584448"/>
            <a:ext cx="384048" cy="384048"/>
          </a:xfrm>
          <a:prstGeom prst="ellipse">
            <a:avLst/>
          </a:prstGeom>
          <a:solidFill>
            <a:schemeClr val="accent2"/>
          </a:solidFill>
          <a:ln w="12700">
            <a:solidFill>
              <a:schemeClr val="accent2"/>
            </a:solidFill>
            <a:prstDash val="solid"/>
          </a:ln>
        </p:spPr>
      </p:sp>
      <p:sp>
        <p:nvSpPr>
          <p:cNvPr id="19" name="Text 15"/>
          <p:cNvSpPr txBox="1"/>
          <p:nvPr/>
        </p:nvSpPr>
        <p:spPr>
          <a:xfrm>
            <a:off x="6355080" y="3584448"/>
            <a:ext cx="384048" cy="384048"/>
          </a:xfrm>
          <a:prstGeom prst="rect">
            <a:avLst/>
          </a:prstGeom>
          <a:noFill/>
          <a:ln/>
        </p:spPr>
        <p:txBody>
          <a:bodyPr wrap="square" lIns="0" tIns="0" rIns="0" bIns="0" rtlCol="0" anchor="ctr"/>
          <a:lstStyle/>
          <a:p>
            <a:pPr algn="ctr" indent="0" marL="0">
              <a:buNone/>
            </a:pPr>
            <a:r>
              <a:rPr lang="en-US" sz="1300" b="1" dirty="0">
                <a:solidFill>
                  <a:srgbClr val="0B2B29"/>
                </a:solidFill>
              </a:rPr>
              <a:t>3</a:t>
            </a:r>
            <a:endParaRPr lang="en-US" sz="1300" dirty="0"/>
          </a:p>
        </p:txBody>
      </p:sp>
      <p:sp>
        <p:nvSpPr>
          <p:cNvPr id="20" name="Text 16"/>
          <p:cNvSpPr txBox="1"/>
          <p:nvPr/>
        </p:nvSpPr>
        <p:spPr>
          <a:xfrm>
            <a:off x="6903720" y="3611880"/>
            <a:ext cx="4526280" cy="411480"/>
          </a:xfrm>
          <a:prstGeom prst="rect">
            <a:avLst/>
          </a:prstGeom>
          <a:noFill/>
          <a:ln/>
        </p:spPr>
        <p:txBody>
          <a:bodyPr wrap="square" lIns="0" tIns="0" rIns="0" bIns="0" rtlCol="0" anchor="t"/>
          <a:lstStyle/>
          <a:p>
            <a:pPr indent="0" marL="0">
              <a:buNone/>
            </a:pPr>
            <a:r>
              <a:rPr lang="en-US" sz="1400" dirty="0">
                <a:solidFill>
                  <a:srgbClr val="E0F2EF"/>
                </a:solidFill>
              </a:rPr>
              <a:t>Argo CD sees the new commit (polls every 60 s)</a:t>
            </a:r>
            <a:endParaRPr lang="en-US" sz="1400" dirty="0"/>
          </a:p>
        </p:txBody>
      </p:sp>
      <p:sp>
        <p:nvSpPr>
          <p:cNvPr id="21" name="flow-num"/>
          <p:cNvSpPr/>
          <p:nvPr/>
        </p:nvSpPr>
        <p:spPr>
          <a:xfrm>
            <a:off x="6355080" y="4187952"/>
            <a:ext cx="384048" cy="384048"/>
          </a:xfrm>
          <a:prstGeom prst="ellipse">
            <a:avLst/>
          </a:prstGeom>
          <a:solidFill>
            <a:schemeClr val="accent2"/>
          </a:solidFill>
          <a:ln w="12700">
            <a:solidFill>
              <a:schemeClr val="accent2"/>
            </a:solidFill>
            <a:prstDash val="solid"/>
          </a:ln>
        </p:spPr>
      </p:sp>
      <p:sp>
        <p:nvSpPr>
          <p:cNvPr id="22" name="Text 18"/>
          <p:cNvSpPr txBox="1"/>
          <p:nvPr/>
        </p:nvSpPr>
        <p:spPr>
          <a:xfrm>
            <a:off x="6355080" y="4187952"/>
            <a:ext cx="384048" cy="384048"/>
          </a:xfrm>
          <a:prstGeom prst="rect">
            <a:avLst/>
          </a:prstGeom>
          <a:noFill/>
          <a:ln/>
        </p:spPr>
        <p:txBody>
          <a:bodyPr wrap="square" lIns="0" tIns="0" rIns="0" bIns="0" rtlCol="0" anchor="ctr"/>
          <a:lstStyle/>
          <a:p>
            <a:pPr algn="ctr" indent="0" marL="0">
              <a:buNone/>
            </a:pPr>
            <a:r>
              <a:rPr lang="en-US" sz="1300" b="1" dirty="0">
                <a:solidFill>
                  <a:srgbClr val="0B2B29"/>
                </a:solidFill>
              </a:rPr>
              <a:t>4</a:t>
            </a:r>
            <a:endParaRPr lang="en-US" sz="1300" dirty="0"/>
          </a:p>
        </p:txBody>
      </p:sp>
      <p:sp>
        <p:nvSpPr>
          <p:cNvPr id="23" name="Text 19"/>
          <p:cNvSpPr txBox="1"/>
          <p:nvPr/>
        </p:nvSpPr>
        <p:spPr>
          <a:xfrm>
            <a:off x="6903720" y="4215384"/>
            <a:ext cx="4526280" cy="411480"/>
          </a:xfrm>
          <a:prstGeom prst="rect">
            <a:avLst/>
          </a:prstGeom>
          <a:noFill/>
          <a:ln/>
        </p:spPr>
        <p:txBody>
          <a:bodyPr wrap="square" lIns="0" tIns="0" rIns="0" bIns="0" rtlCol="0" anchor="t"/>
          <a:lstStyle/>
          <a:p>
            <a:pPr indent="0" marL="0">
              <a:buNone/>
            </a:pPr>
            <a:r>
              <a:rPr lang="en-US" sz="1400" dirty="0">
                <a:solidFill>
                  <a:srgbClr val="E0F2EF"/>
                </a:solidFill>
              </a:rPr>
              <a:t>Argo CD renders the chart and syncs EKS</a:t>
            </a:r>
            <a:endParaRPr lang="en-US" sz="1400" dirty="0"/>
          </a:p>
        </p:txBody>
      </p:sp>
      <p:sp>
        <p:nvSpPr>
          <p:cNvPr id="24" name="flow-num"/>
          <p:cNvSpPr/>
          <p:nvPr/>
        </p:nvSpPr>
        <p:spPr>
          <a:xfrm>
            <a:off x="6355080" y="4791456"/>
            <a:ext cx="384048" cy="384048"/>
          </a:xfrm>
          <a:prstGeom prst="ellipse">
            <a:avLst/>
          </a:prstGeom>
          <a:solidFill>
            <a:schemeClr val="accent2"/>
          </a:solidFill>
          <a:ln w="12700">
            <a:solidFill>
              <a:schemeClr val="accent2"/>
            </a:solidFill>
            <a:prstDash val="solid"/>
          </a:ln>
        </p:spPr>
      </p:sp>
      <p:sp>
        <p:nvSpPr>
          <p:cNvPr id="25" name="Text 21"/>
          <p:cNvSpPr txBox="1"/>
          <p:nvPr/>
        </p:nvSpPr>
        <p:spPr>
          <a:xfrm>
            <a:off x="6355080" y="4791456"/>
            <a:ext cx="384048" cy="384048"/>
          </a:xfrm>
          <a:prstGeom prst="rect">
            <a:avLst/>
          </a:prstGeom>
          <a:noFill/>
          <a:ln/>
        </p:spPr>
        <p:txBody>
          <a:bodyPr wrap="square" lIns="0" tIns="0" rIns="0" bIns="0" rtlCol="0" anchor="ctr"/>
          <a:lstStyle/>
          <a:p>
            <a:pPr algn="ctr" indent="0" marL="0">
              <a:buNone/>
            </a:pPr>
            <a:r>
              <a:rPr lang="en-US" sz="1300" b="1" dirty="0">
                <a:solidFill>
                  <a:srgbClr val="0B2B29"/>
                </a:solidFill>
              </a:rPr>
              <a:t>5</a:t>
            </a:r>
            <a:endParaRPr lang="en-US" sz="1300" dirty="0"/>
          </a:p>
        </p:txBody>
      </p:sp>
      <p:sp>
        <p:nvSpPr>
          <p:cNvPr id="26" name="Text 22"/>
          <p:cNvSpPr txBox="1"/>
          <p:nvPr/>
        </p:nvSpPr>
        <p:spPr>
          <a:xfrm>
            <a:off x="6903720" y="4818888"/>
            <a:ext cx="4526280" cy="411480"/>
          </a:xfrm>
          <a:prstGeom prst="rect">
            <a:avLst/>
          </a:prstGeom>
          <a:noFill/>
          <a:ln/>
        </p:spPr>
        <p:txBody>
          <a:bodyPr wrap="square" lIns="0" tIns="0" rIns="0" bIns="0" rtlCol="0" anchor="t"/>
          <a:lstStyle/>
          <a:p>
            <a:pPr indent="0" marL="0">
              <a:buNone/>
            </a:pPr>
            <a:r>
              <a:rPr lang="en-US" sz="1400" dirty="0">
                <a:solidFill>
                  <a:srgbClr val="E0F2EF"/>
                </a:solidFill>
              </a:rPr>
              <a:t>Self-heal reverts manual drift · rollback = git revert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Observability and autoscaling</a:t>
            </a:r>
            <a:endParaRPr lang="en-US" sz="3600" dirty="0"/>
          </a:p>
        </p:txBody>
      </p:sp>
      <p:sp>
        <p:nvSpPr>
          <p:cNvPr id="3" name="card"/>
          <p:cNvSpPr/>
          <p:nvPr/>
        </p:nvSpPr>
        <p:spPr>
          <a:xfrm>
            <a:off x="548640" y="1325880"/>
            <a:ext cx="5486400" cy="4160520"/>
          </a:xfrm>
          <a:prstGeom prst="roundRect">
            <a:avLst>
              <a:gd name="adj" fmla="val 26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circle"/>
          <p:cNvSpPr/>
          <p:nvPr/>
        </p:nvSpPr>
        <p:spPr>
          <a:xfrm>
            <a:off x="822960" y="1600200"/>
            <a:ext cx="566928" cy="566928"/>
          </a:xfrm>
          <a:prstGeom prst="ellipse">
            <a:avLst/>
          </a:prstGeom>
          <a:solidFill>
            <a:schemeClr val="accent5"/>
          </a:solidFill>
          <a:ln w="12700">
            <a:solidFill>
              <a:schemeClr val="accent5"/>
            </a:solidFill>
            <a:prstDash val="solid"/>
          </a:ln>
        </p:spPr>
      </p:sp>
      <p:pic>
        <p:nvPicPr>
          <p:cNvPr id="5" name="icon" descr="preencoded.png">    </p:cNvPr>
          <p:cNvPicPr>
            <a:picLocks noChangeAspect="1"/>
          </p:cNvPicPr>
          <p:nvPr/>
        </p:nvPicPr>
        <p:blipFill>
          <a:blip r:embed="rId1"/>
          <a:stretch>
            <a:fillRect/>
          </a:stretch>
        </p:blipFill>
        <p:spPr>
          <a:xfrm>
            <a:off x="959023" y="1736263"/>
            <a:ext cx="294803" cy="294803"/>
          </a:xfrm>
          <a:prstGeom prst="rect">
            <a:avLst/>
          </a:prstGeom>
        </p:spPr>
      </p:pic>
      <p:sp>
        <p:nvSpPr>
          <p:cNvPr id="6" name="Text 3"/>
          <p:cNvSpPr txBox="1"/>
          <p:nvPr/>
        </p:nvSpPr>
        <p:spPr>
          <a:xfrm>
            <a:off x="1554480" y="1691640"/>
            <a:ext cx="4206240" cy="411480"/>
          </a:xfrm>
          <a:prstGeom prst="rect">
            <a:avLst/>
          </a:prstGeom>
          <a:noFill/>
          <a:ln/>
        </p:spPr>
        <p:txBody>
          <a:bodyPr wrap="square" lIns="0" tIns="0" rIns="0" bIns="0" rtlCol="0" anchor="t"/>
          <a:lstStyle/>
          <a:p>
            <a:pPr indent="0" marL="0">
              <a:buNone/>
            </a:pPr>
            <a:r>
              <a:rPr lang="en-US" sz="1800" b="1" dirty="0">
                <a:solidFill>
                  <a:schemeClr val="tx2"/>
                </a:solidFill>
              </a:rPr>
              <a:t>Prometheus + Grafana</a:t>
            </a:r>
            <a:endParaRPr lang="en-US" sz="1800" dirty="0"/>
          </a:p>
        </p:txBody>
      </p:sp>
      <p:sp>
        <p:nvSpPr>
          <p:cNvPr id="7" name="Text 4"/>
          <p:cNvSpPr txBox="1"/>
          <p:nvPr/>
        </p:nvSpPr>
        <p:spPr>
          <a:xfrm>
            <a:off x="822960" y="2377440"/>
            <a:ext cx="4937760" cy="34747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ServiceMonitor scrapes /metrics on every backend pod — Targets show UP</a:t>
            </a:r>
            <a:endParaRPr lang="en-US" sz="1400" dirty="0"/>
          </a:p>
          <a:p>
            <a:pPr marL="342900" indent="-342900">
              <a:spcAft>
                <a:spcPts val="1000"/>
              </a:spcAft>
              <a:buSzPct val="100000"/>
              <a:buChar char="•"/>
            </a:pPr>
            <a:r>
              <a:rPr lang="en-US" sz="1400" dirty="0">
                <a:solidFill>
                  <a:schemeClr val="tx1"/>
                </a:solidFill>
              </a:rPr>
              <a:t>Dashboard provisioned from the chart: requests/s, p50/p95/p99 latency, 5xx ratio, bookings per specialty, double bookings rejected, HPA replicas, CPU and memory per pod</a:t>
            </a:r>
            <a:endParaRPr lang="en-US" sz="1400" dirty="0"/>
          </a:p>
          <a:p>
            <a:pPr marL="342900" indent="-342900">
              <a:spcAft>
                <a:spcPts val="1000"/>
              </a:spcAft>
              <a:buSzPct val="100000"/>
              <a:buChar char="•"/>
            </a:pPr>
            <a:r>
              <a:rPr lang="en-US" sz="1400" dirty="0">
                <a:solidFill>
                  <a:schemeClr val="tx1"/>
                </a:solidFill>
              </a:rPr>
              <a:t>Alerts: backend down, error ratio &gt; 5 %, p95 &gt; 500 ms, HPA at max, restart loops</a:t>
            </a:r>
            <a:endParaRPr lang="en-US" sz="1400" dirty="0"/>
          </a:p>
        </p:txBody>
      </p:sp>
      <p:sp>
        <p:nvSpPr>
          <p:cNvPr id="8" name="card"/>
          <p:cNvSpPr/>
          <p:nvPr/>
        </p:nvSpPr>
        <p:spPr>
          <a:xfrm>
            <a:off x="6400800" y="1325880"/>
            <a:ext cx="5212080" cy="4160520"/>
          </a:xfrm>
          <a:prstGeom prst="roundRect">
            <a:avLst>
              <a:gd name="adj" fmla="val 26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circle"/>
          <p:cNvSpPr/>
          <p:nvPr/>
        </p:nvSpPr>
        <p:spPr>
          <a:xfrm>
            <a:off x="6675120" y="1600200"/>
            <a:ext cx="566928" cy="566928"/>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6811183" y="1736263"/>
            <a:ext cx="294803" cy="294803"/>
          </a:xfrm>
          <a:prstGeom prst="rect">
            <a:avLst/>
          </a:prstGeom>
        </p:spPr>
      </p:pic>
      <p:sp>
        <p:nvSpPr>
          <p:cNvPr id="11" name="Text 7"/>
          <p:cNvSpPr txBox="1"/>
          <p:nvPr/>
        </p:nvSpPr>
        <p:spPr>
          <a:xfrm>
            <a:off x="7406640" y="16916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HPA under load on EKS</a:t>
            </a:r>
            <a:endParaRPr lang="en-US" sz="1800" dirty="0"/>
          </a:p>
        </p:txBody>
      </p:sp>
      <p:sp>
        <p:nvSpPr>
          <p:cNvPr id="12" name="Text 8"/>
          <p:cNvSpPr txBox="1"/>
          <p:nvPr/>
        </p:nvSpPr>
        <p:spPr>
          <a:xfrm>
            <a:off x="6675120" y="2560320"/>
            <a:ext cx="2377440" cy="822960"/>
          </a:xfrm>
          <a:prstGeom prst="rect">
            <a:avLst/>
          </a:prstGeom>
          <a:noFill/>
          <a:ln/>
        </p:spPr>
        <p:txBody>
          <a:bodyPr wrap="square" lIns="0" tIns="0" rIns="0" bIns="0" rtlCol="0" anchor="t"/>
          <a:lstStyle/>
          <a:p>
            <a:pPr indent="0" marL="0">
              <a:buNone/>
            </a:pPr>
            <a:r>
              <a:rPr lang="en-US" sz="4000" b="1" dirty="0">
                <a:solidFill>
                  <a:schemeClr val="accent1"/>
                </a:solidFill>
              </a:rPr>
              <a:t>388 %</a:t>
            </a:r>
            <a:endParaRPr lang="en-US" sz="4000" dirty="0"/>
          </a:p>
        </p:txBody>
      </p:sp>
      <p:sp>
        <p:nvSpPr>
          <p:cNvPr id="13" name="Text 9"/>
          <p:cNvSpPr txBox="1"/>
          <p:nvPr/>
        </p:nvSpPr>
        <p:spPr>
          <a:xfrm>
            <a:off x="6675120" y="3383280"/>
            <a:ext cx="2377440" cy="365760"/>
          </a:xfrm>
          <a:prstGeom prst="rect">
            <a:avLst/>
          </a:prstGeom>
          <a:noFill/>
          <a:ln/>
        </p:spPr>
        <p:txBody>
          <a:bodyPr wrap="square" lIns="0" tIns="0" rIns="0" bIns="0" rtlCol="0" anchor="t"/>
          <a:lstStyle/>
          <a:p>
            <a:pPr indent="0" marL="0">
              <a:buNone/>
            </a:pPr>
            <a:r>
              <a:rPr lang="en-US" sz="1400" dirty="0">
                <a:solidFill>
                  <a:srgbClr val="5D716D"/>
                </a:solidFill>
              </a:rPr>
              <a:t>CPU of request</a:t>
            </a:r>
            <a:endParaRPr lang="en-US" sz="1400" dirty="0"/>
          </a:p>
        </p:txBody>
      </p:sp>
      <p:sp>
        <p:nvSpPr>
          <p:cNvPr id="14" name="Text 10"/>
          <p:cNvSpPr txBox="1"/>
          <p:nvPr/>
        </p:nvSpPr>
        <p:spPr>
          <a:xfrm>
            <a:off x="9144000" y="2560320"/>
            <a:ext cx="2377440" cy="822960"/>
          </a:xfrm>
          <a:prstGeom prst="rect">
            <a:avLst/>
          </a:prstGeom>
          <a:noFill/>
          <a:ln/>
        </p:spPr>
        <p:txBody>
          <a:bodyPr wrap="square" lIns="0" tIns="0" rIns="0" bIns="0" rtlCol="0" anchor="t"/>
          <a:lstStyle/>
          <a:p>
            <a:pPr indent="0" marL="0">
              <a:buNone/>
            </a:pPr>
            <a:r>
              <a:rPr lang="en-US" sz="4000" b="1" dirty="0">
                <a:solidFill>
                  <a:schemeClr val="accent1"/>
                </a:solidFill>
              </a:rPr>
              <a:t>2 → 4</a:t>
            </a:r>
            <a:endParaRPr lang="en-US" sz="4000" dirty="0"/>
          </a:p>
        </p:txBody>
      </p:sp>
      <p:sp>
        <p:nvSpPr>
          <p:cNvPr id="15" name="Text 11"/>
          <p:cNvSpPr txBox="1"/>
          <p:nvPr/>
        </p:nvSpPr>
        <p:spPr>
          <a:xfrm>
            <a:off x="9144000" y="3383280"/>
            <a:ext cx="2377440" cy="365760"/>
          </a:xfrm>
          <a:prstGeom prst="rect">
            <a:avLst/>
          </a:prstGeom>
          <a:noFill/>
          <a:ln/>
        </p:spPr>
        <p:txBody>
          <a:bodyPr wrap="square" lIns="0" tIns="0" rIns="0" bIns="0" rtlCol="0" anchor="t"/>
          <a:lstStyle/>
          <a:p>
            <a:pPr indent="0" marL="0">
              <a:buNone/>
            </a:pPr>
            <a:r>
              <a:rPr lang="en-US" sz="1400" dirty="0">
                <a:solidFill>
                  <a:srgbClr val="5D716D"/>
                </a:solidFill>
              </a:rPr>
              <a:t>backend pods</a:t>
            </a:r>
            <a:endParaRPr lang="en-US" sz="1400" dirty="0"/>
          </a:p>
        </p:txBody>
      </p:sp>
      <p:sp>
        <p:nvSpPr>
          <p:cNvPr id="16" name="Text 12"/>
          <p:cNvSpPr txBox="1"/>
          <p:nvPr/>
        </p:nvSpPr>
        <p:spPr>
          <a:xfrm>
            <a:off x="6675120" y="4023360"/>
            <a:ext cx="4663440" cy="1737360"/>
          </a:xfrm>
          <a:prstGeom prst="rect">
            <a:avLst/>
          </a:prstGeom>
          <a:noFill/>
          <a:ln/>
        </p:spPr>
        <p:txBody>
          <a:bodyPr wrap="square" lIns="0" tIns="0" rIns="0" bIns="0" rtlCol="0" anchor="t"/>
          <a:lstStyle/>
          <a:p>
            <a:pPr indent="0" marL="0">
              <a:buNone/>
            </a:pPr>
            <a:r>
              <a:rPr lang="en-US" sz="1400" dirty="0">
                <a:solidFill>
                  <a:schemeClr val="tx1"/>
                </a:solidFill>
              </a:rPr>
              <a:t>Target 60 % of a 100m CPU request, 2–8 replicas. An in-cluster load-test Job drives the load; metrics-server feeds the HPA, and pods spread across the 3 nodes.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rtlCol="0" anchor="ctr"/>
          <a:lstStyle/>
          <a:p>
            <a:pPr algn="l" indent="0" marL="0">
              <a:buNone/>
            </a:pPr>
            <a:r>
              <a:rPr lang="en-US" sz="3600" b="1" dirty="0">
                <a:solidFill>
                  <a:schemeClr val="tx2"/>
                </a:solidFill>
              </a:rPr>
              <a:t>Real problems I solved on AWS</a:t>
            </a:r>
            <a:endParaRPr lang="en-US" sz="3600" dirty="0"/>
          </a:p>
        </p:txBody>
      </p:sp>
      <p:sp>
        <p:nvSpPr>
          <p:cNvPr id="3" name="prob-num"/>
          <p:cNvSpPr/>
          <p:nvPr/>
        </p:nvSpPr>
        <p:spPr>
          <a:xfrm>
            <a:off x="548640" y="1371600"/>
            <a:ext cx="457200" cy="457200"/>
          </a:xfrm>
          <a:prstGeom prst="ellipse">
            <a:avLst/>
          </a:prstGeom>
          <a:solidFill>
            <a:schemeClr val="accent3"/>
          </a:solidFill>
          <a:ln w="12700">
            <a:solidFill>
              <a:schemeClr val="accent3"/>
            </a:solidFill>
            <a:prstDash val="solid"/>
          </a:ln>
        </p:spPr>
      </p:sp>
      <p:sp>
        <p:nvSpPr>
          <p:cNvPr id="4" name="Text 2"/>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500" b="1" dirty="0">
                <a:solidFill>
                  <a:srgbClr val="102A26"/>
                </a:solidFill>
              </a:rPr>
              <a:t>1</a:t>
            </a:r>
            <a:endParaRPr lang="en-US" sz="1500" dirty="0"/>
          </a:p>
        </p:txBody>
      </p:sp>
      <p:sp>
        <p:nvSpPr>
          <p:cNvPr id="5" name="Text 3"/>
          <p:cNvSpPr txBox="1"/>
          <p:nvPr/>
        </p:nvSpPr>
        <p:spPr>
          <a:xfrm>
            <a:off x="1234440" y="1325880"/>
            <a:ext cx="3291840" cy="685800"/>
          </a:xfrm>
          <a:prstGeom prst="rect">
            <a:avLst/>
          </a:prstGeom>
          <a:noFill/>
          <a:ln/>
        </p:spPr>
        <p:txBody>
          <a:bodyPr wrap="square" lIns="0" tIns="0" rIns="0" bIns="0" rtlCol="0" anchor="t"/>
          <a:lstStyle/>
          <a:p>
            <a:pPr indent="0" marL="0">
              <a:buNone/>
            </a:pPr>
            <a:r>
              <a:rPr lang="en-US" sz="1600" b="1" dirty="0">
                <a:solidFill>
                  <a:schemeClr val="tx2"/>
                </a:solidFill>
              </a:rPr>
              <a:t>Account cannot create load balancers</a:t>
            </a:r>
            <a:endParaRPr lang="en-US" sz="1600" dirty="0"/>
          </a:p>
        </p:txBody>
      </p:sp>
      <p:sp>
        <p:nvSpPr>
          <p:cNvPr id="6" name="Text 4"/>
          <p:cNvSpPr txBox="1"/>
          <p:nvPr/>
        </p:nvSpPr>
        <p:spPr>
          <a:xfrm>
            <a:off x="4663440" y="1325880"/>
            <a:ext cx="6949440" cy="868680"/>
          </a:xfrm>
          <a:prstGeom prst="rect">
            <a:avLst/>
          </a:prstGeom>
          <a:noFill/>
          <a:ln/>
        </p:spPr>
        <p:txBody>
          <a:bodyPr wrap="square" lIns="0" tIns="0" rIns="0" bIns="0" rtlCol="0" anchor="t"/>
          <a:lstStyle/>
          <a:p>
            <a:pPr indent="0" marL="0">
              <a:buNone/>
            </a:pPr>
            <a:r>
              <a:rPr lang="en-US" sz="1400" dirty="0">
                <a:solidFill>
                  <a:schemeClr val="tx1"/>
                </a:solidFill>
              </a:rPr>
              <a:t>AWS returned OperationNotPermitted for every ELB. Added a small tainted edge node in a public subnet running ingress-nginx on ports 80/443; app nodes stay private.</a:t>
            </a:r>
            <a:endParaRPr lang="en-US" sz="1400" dirty="0"/>
          </a:p>
        </p:txBody>
      </p:sp>
      <p:sp>
        <p:nvSpPr>
          <p:cNvPr id="7" name="prob-num"/>
          <p:cNvSpPr/>
          <p:nvPr/>
        </p:nvSpPr>
        <p:spPr>
          <a:xfrm>
            <a:off x="548640" y="2359152"/>
            <a:ext cx="457200" cy="457200"/>
          </a:xfrm>
          <a:prstGeom prst="ellipse">
            <a:avLst/>
          </a:prstGeom>
          <a:solidFill>
            <a:schemeClr val="accent3"/>
          </a:solidFill>
          <a:ln w="12700">
            <a:solidFill>
              <a:schemeClr val="accent3"/>
            </a:solidFill>
            <a:prstDash val="solid"/>
          </a:ln>
        </p:spPr>
      </p:sp>
      <p:sp>
        <p:nvSpPr>
          <p:cNvPr id="8" name="Text 6"/>
          <p:cNvSpPr txBox="1"/>
          <p:nvPr/>
        </p:nvSpPr>
        <p:spPr>
          <a:xfrm>
            <a:off x="548640" y="2359152"/>
            <a:ext cx="457200" cy="457200"/>
          </a:xfrm>
          <a:prstGeom prst="rect">
            <a:avLst/>
          </a:prstGeom>
          <a:noFill/>
          <a:ln/>
        </p:spPr>
        <p:txBody>
          <a:bodyPr wrap="square" lIns="0" tIns="0" rIns="0" bIns="0" rtlCol="0" anchor="ctr"/>
          <a:lstStyle/>
          <a:p>
            <a:pPr algn="ctr" indent="0" marL="0">
              <a:buNone/>
            </a:pPr>
            <a:r>
              <a:rPr lang="en-US" sz="1500" b="1" dirty="0">
                <a:solidFill>
                  <a:srgbClr val="102A26"/>
                </a:solidFill>
              </a:rPr>
              <a:t>2</a:t>
            </a:r>
            <a:endParaRPr lang="en-US" sz="1500" dirty="0"/>
          </a:p>
        </p:txBody>
      </p:sp>
      <p:sp>
        <p:nvSpPr>
          <p:cNvPr id="9" name="Text 7"/>
          <p:cNvSpPr txBox="1"/>
          <p:nvPr/>
        </p:nvSpPr>
        <p:spPr>
          <a:xfrm>
            <a:off x="1234440" y="2313432"/>
            <a:ext cx="3291840" cy="685800"/>
          </a:xfrm>
          <a:prstGeom prst="rect">
            <a:avLst/>
          </a:prstGeom>
          <a:noFill/>
          <a:ln/>
        </p:spPr>
        <p:txBody>
          <a:bodyPr wrap="square" lIns="0" tIns="0" rIns="0" bIns="0" rtlCol="0" anchor="t"/>
          <a:lstStyle/>
          <a:p>
            <a:pPr indent="0" marL="0">
              <a:buNone/>
            </a:pPr>
            <a:r>
              <a:rPr lang="en-US" sz="1600" b="1" dirty="0">
                <a:solidFill>
                  <a:schemeClr val="tx2"/>
                </a:solidFill>
              </a:rPr>
              <a:t>Edge node: port 80 'in use'</a:t>
            </a:r>
            <a:endParaRPr lang="en-US" sz="1600" dirty="0"/>
          </a:p>
        </p:txBody>
      </p:sp>
      <p:sp>
        <p:nvSpPr>
          <p:cNvPr id="10" name="Text 8"/>
          <p:cNvSpPr txBox="1"/>
          <p:nvPr/>
        </p:nvSpPr>
        <p:spPr>
          <a:xfrm>
            <a:off x="4663440" y="2313432"/>
            <a:ext cx="6949440" cy="868680"/>
          </a:xfrm>
          <a:prstGeom prst="rect">
            <a:avLst/>
          </a:prstGeom>
          <a:noFill/>
          <a:ln/>
        </p:spPr>
        <p:txBody>
          <a:bodyPr wrap="square" lIns="0" tIns="0" rIns="0" bIns="0" rtlCol="0" anchor="t"/>
          <a:lstStyle/>
          <a:p>
            <a:pPr indent="0" marL="0">
              <a:buNone/>
            </a:pPr>
            <a:r>
              <a:rPr lang="en-US" sz="1400" dirty="0">
                <a:solidFill>
                  <a:schemeClr val="tx1"/>
                </a:solidFill>
              </a:rPr>
              <a:t>The EKS Pod Identity agent declares hostNetwork port 80. Kept it off the edge node with an add-on affinity rule in Terraform.</a:t>
            </a:r>
            <a:endParaRPr lang="en-US" sz="1400" dirty="0"/>
          </a:p>
        </p:txBody>
      </p:sp>
      <p:sp>
        <p:nvSpPr>
          <p:cNvPr id="11" name="prob-num"/>
          <p:cNvSpPr/>
          <p:nvPr/>
        </p:nvSpPr>
        <p:spPr>
          <a:xfrm>
            <a:off x="548640" y="3346704"/>
            <a:ext cx="457200" cy="457200"/>
          </a:xfrm>
          <a:prstGeom prst="ellipse">
            <a:avLst/>
          </a:prstGeom>
          <a:solidFill>
            <a:schemeClr val="accent3"/>
          </a:solidFill>
          <a:ln w="12700">
            <a:solidFill>
              <a:schemeClr val="accent3"/>
            </a:solidFill>
            <a:prstDash val="solid"/>
          </a:ln>
        </p:spPr>
      </p:sp>
      <p:sp>
        <p:nvSpPr>
          <p:cNvPr id="12" name="Text 10"/>
          <p:cNvSpPr txBox="1"/>
          <p:nvPr/>
        </p:nvSpPr>
        <p:spPr>
          <a:xfrm>
            <a:off x="548640" y="3346704"/>
            <a:ext cx="457200" cy="457200"/>
          </a:xfrm>
          <a:prstGeom prst="rect">
            <a:avLst/>
          </a:prstGeom>
          <a:noFill/>
          <a:ln/>
        </p:spPr>
        <p:txBody>
          <a:bodyPr wrap="square" lIns="0" tIns="0" rIns="0" bIns="0" rtlCol="0" anchor="ctr"/>
          <a:lstStyle/>
          <a:p>
            <a:pPr algn="ctr" indent="0" marL="0">
              <a:buNone/>
            </a:pPr>
            <a:r>
              <a:rPr lang="en-US" sz="1500" b="1" dirty="0">
                <a:solidFill>
                  <a:srgbClr val="102A26"/>
                </a:solidFill>
              </a:rPr>
              <a:t>3</a:t>
            </a:r>
            <a:endParaRPr lang="en-US" sz="1500" dirty="0"/>
          </a:p>
        </p:txBody>
      </p:sp>
      <p:sp>
        <p:nvSpPr>
          <p:cNvPr id="13" name="Text 11"/>
          <p:cNvSpPr txBox="1"/>
          <p:nvPr/>
        </p:nvSpPr>
        <p:spPr>
          <a:xfrm>
            <a:off x="1234440" y="3300984"/>
            <a:ext cx="3291840" cy="685800"/>
          </a:xfrm>
          <a:prstGeom prst="rect">
            <a:avLst/>
          </a:prstGeom>
          <a:noFill/>
          <a:ln/>
        </p:spPr>
        <p:txBody>
          <a:bodyPr wrap="square" lIns="0" tIns="0" rIns="0" bIns="0" rtlCol="0" anchor="t"/>
          <a:lstStyle/>
          <a:p>
            <a:pPr indent="0" marL="0">
              <a:buNone/>
            </a:pPr>
            <a:r>
              <a:rPr lang="en-US" sz="1600" b="1" dirty="0">
                <a:solidFill>
                  <a:schemeClr val="tx2"/>
                </a:solidFill>
              </a:rPr>
              <a:t>GitHub OIDC refused</a:t>
            </a:r>
            <a:endParaRPr lang="en-US" sz="1600" dirty="0"/>
          </a:p>
        </p:txBody>
      </p:sp>
      <p:sp>
        <p:nvSpPr>
          <p:cNvPr id="14" name="Text 12"/>
          <p:cNvSpPr txBox="1"/>
          <p:nvPr/>
        </p:nvSpPr>
        <p:spPr>
          <a:xfrm>
            <a:off x="4663440" y="3300984"/>
            <a:ext cx="6949440" cy="868680"/>
          </a:xfrm>
          <a:prstGeom prst="rect">
            <a:avLst/>
          </a:prstGeom>
          <a:noFill/>
          <a:ln/>
        </p:spPr>
        <p:txBody>
          <a:bodyPr wrap="square" lIns="0" tIns="0" rIns="0" bIns="0" rtlCol="0" anchor="t"/>
          <a:lstStyle/>
          <a:p>
            <a:pPr indent="0" marL="0">
              <a:buNone/>
            </a:pPr>
            <a:r>
              <a:rPr lang="en-US" sz="1400" dirty="0">
                <a:solidFill>
                  <a:schemeClr val="tx1"/>
                </a:solidFill>
              </a:rPr>
              <a:t>The repo uses GitHub's immutable subject format (owner and repo IDs). The IAM trust policy now accepts both formats.</a:t>
            </a:r>
            <a:endParaRPr lang="en-US" sz="1400" dirty="0"/>
          </a:p>
        </p:txBody>
      </p:sp>
      <p:sp>
        <p:nvSpPr>
          <p:cNvPr id="15" name="prob-num"/>
          <p:cNvSpPr/>
          <p:nvPr/>
        </p:nvSpPr>
        <p:spPr>
          <a:xfrm>
            <a:off x="548640" y="4334256"/>
            <a:ext cx="457200" cy="457200"/>
          </a:xfrm>
          <a:prstGeom prst="ellipse">
            <a:avLst/>
          </a:prstGeom>
          <a:solidFill>
            <a:schemeClr val="accent3"/>
          </a:solidFill>
          <a:ln w="12700">
            <a:solidFill>
              <a:schemeClr val="accent3"/>
            </a:solidFill>
            <a:prstDash val="solid"/>
          </a:ln>
        </p:spPr>
      </p:sp>
      <p:sp>
        <p:nvSpPr>
          <p:cNvPr id="16" name="Text 14"/>
          <p:cNvSpPr txBox="1"/>
          <p:nvPr/>
        </p:nvSpPr>
        <p:spPr>
          <a:xfrm>
            <a:off x="548640" y="4334256"/>
            <a:ext cx="457200" cy="457200"/>
          </a:xfrm>
          <a:prstGeom prst="rect">
            <a:avLst/>
          </a:prstGeom>
          <a:noFill/>
          <a:ln/>
        </p:spPr>
        <p:txBody>
          <a:bodyPr wrap="square" lIns="0" tIns="0" rIns="0" bIns="0" rtlCol="0" anchor="ctr"/>
          <a:lstStyle/>
          <a:p>
            <a:pPr algn="ctr" indent="0" marL="0">
              <a:buNone/>
            </a:pPr>
            <a:r>
              <a:rPr lang="en-US" sz="1500" b="1" dirty="0">
                <a:solidFill>
                  <a:srgbClr val="102A26"/>
                </a:solidFill>
              </a:rPr>
              <a:t>4</a:t>
            </a:r>
            <a:endParaRPr lang="en-US" sz="1500" dirty="0"/>
          </a:p>
        </p:txBody>
      </p:sp>
      <p:sp>
        <p:nvSpPr>
          <p:cNvPr id="17" name="Text 15"/>
          <p:cNvSpPr txBox="1"/>
          <p:nvPr/>
        </p:nvSpPr>
        <p:spPr>
          <a:xfrm>
            <a:off x="1234440" y="4288536"/>
            <a:ext cx="3291840" cy="685800"/>
          </a:xfrm>
          <a:prstGeom prst="rect">
            <a:avLst/>
          </a:prstGeom>
          <a:noFill/>
          <a:ln/>
        </p:spPr>
        <p:txBody>
          <a:bodyPr wrap="square" lIns="0" tIns="0" rIns="0" bIns="0" rtlCol="0" anchor="t"/>
          <a:lstStyle/>
          <a:p>
            <a:pPr indent="0" marL="0">
              <a:buNone/>
            </a:pPr>
            <a:r>
              <a:rPr lang="en-US" sz="1600" b="1" dirty="0">
                <a:solidFill>
                  <a:schemeClr val="tx2"/>
                </a:solidFill>
              </a:rPr>
              <a:t>Migration race on first deploy</a:t>
            </a:r>
            <a:endParaRPr lang="en-US" sz="1600" dirty="0"/>
          </a:p>
        </p:txBody>
      </p:sp>
      <p:sp>
        <p:nvSpPr>
          <p:cNvPr id="18" name="Text 16"/>
          <p:cNvSpPr txBox="1"/>
          <p:nvPr/>
        </p:nvSpPr>
        <p:spPr>
          <a:xfrm>
            <a:off x="4663440" y="4288536"/>
            <a:ext cx="6949440" cy="868680"/>
          </a:xfrm>
          <a:prstGeom prst="rect">
            <a:avLst/>
          </a:prstGeom>
          <a:noFill/>
          <a:ln/>
        </p:spPr>
        <p:txBody>
          <a:bodyPr wrap="square" lIns="0" tIns="0" rIns="0" bIns="0" rtlCol="0" anchor="t"/>
          <a:lstStyle/>
          <a:p>
            <a:pPr indent="0" marL="0">
              <a:buNone/>
            </a:pPr>
            <a:r>
              <a:rPr lang="en-US" sz="1400" dirty="0">
                <a:solidFill>
                  <a:schemeClr val="tx1"/>
                </a:solidFill>
              </a:rPr>
              <a:t>Two replicas created the schema at once; one crashed. A PostgreSQL advisory lock makes migrations take turns — tested with 4 in parallel.</a:t>
            </a:r>
            <a:endParaRPr lang="en-US" sz="1400" dirty="0"/>
          </a:p>
        </p:txBody>
      </p:sp>
      <p:sp>
        <p:nvSpPr>
          <p:cNvPr id="19" name="prob-num"/>
          <p:cNvSpPr/>
          <p:nvPr/>
        </p:nvSpPr>
        <p:spPr>
          <a:xfrm>
            <a:off x="548640" y="5321808"/>
            <a:ext cx="457200" cy="457200"/>
          </a:xfrm>
          <a:prstGeom prst="ellipse">
            <a:avLst/>
          </a:prstGeom>
          <a:solidFill>
            <a:schemeClr val="accent3"/>
          </a:solidFill>
          <a:ln w="12700">
            <a:solidFill>
              <a:schemeClr val="accent3"/>
            </a:solidFill>
            <a:prstDash val="solid"/>
          </a:ln>
        </p:spPr>
      </p:sp>
      <p:sp>
        <p:nvSpPr>
          <p:cNvPr id="20" name="Text 18"/>
          <p:cNvSpPr txBox="1"/>
          <p:nvPr/>
        </p:nvSpPr>
        <p:spPr>
          <a:xfrm>
            <a:off x="548640" y="5321808"/>
            <a:ext cx="457200" cy="457200"/>
          </a:xfrm>
          <a:prstGeom prst="rect">
            <a:avLst/>
          </a:prstGeom>
          <a:noFill/>
          <a:ln/>
        </p:spPr>
        <p:txBody>
          <a:bodyPr wrap="square" lIns="0" tIns="0" rIns="0" bIns="0" rtlCol="0" anchor="ctr"/>
          <a:lstStyle/>
          <a:p>
            <a:pPr algn="ctr" indent="0" marL="0">
              <a:buNone/>
            </a:pPr>
            <a:r>
              <a:rPr lang="en-US" sz="1500" b="1" dirty="0">
                <a:solidFill>
                  <a:srgbClr val="102A26"/>
                </a:solidFill>
              </a:rPr>
              <a:t>5</a:t>
            </a:r>
            <a:endParaRPr lang="en-US" sz="1500" dirty="0"/>
          </a:p>
        </p:txBody>
      </p:sp>
      <p:sp>
        <p:nvSpPr>
          <p:cNvPr id="21" name="Text 19"/>
          <p:cNvSpPr txBox="1"/>
          <p:nvPr/>
        </p:nvSpPr>
        <p:spPr>
          <a:xfrm>
            <a:off x="1234440" y="5276088"/>
            <a:ext cx="3291840" cy="685800"/>
          </a:xfrm>
          <a:prstGeom prst="rect">
            <a:avLst/>
          </a:prstGeom>
          <a:noFill/>
          <a:ln/>
        </p:spPr>
        <p:txBody>
          <a:bodyPr wrap="square" lIns="0" tIns="0" rIns="0" bIns="0" rtlCol="0" anchor="t"/>
          <a:lstStyle/>
          <a:p>
            <a:pPr indent="0" marL="0">
              <a:buNone/>
            </a:pPr>
            <a:r>
              <a:rPr lang="en-US" sz="1600" b="1" dirty="0">
                <a:solidFill>
                  <a:schemeClr val="tx2"/>
                </a:solidFill>
              </a:rPr>
              <a:t>Database restarted on every deploy</a:t>
            </a:r>
            <a:endParaRPr lang="en-US" sz="1600" dirty="0"/>
          </a:p>
        </p:txBody>
      </p:sp>
      <p:sp>
        <p:nvSpPr>
          <p:cNvPr id="22" name="Text 20"/>
          <p:cNvSpPr txBox="1"/>
          <p:nvPr/>
        </p:nvSpPr>
        <p:spPr>
          <a:xfrm>
            <a:off x="4663440" y="5276088"/>
            <a:ext cx="6949440" cy="868680"/>
          </a:xfrm>
          <a:prstGeom prst="rect">
            <a:avLst/>
          </a:prstGeom>
          <a:noFill/>
          <a:ln/>
        </p:spPr>
        <p:txBody>
          <a:bodyPr wrap="square" lIns="0" tIns="0" rIns="0" bIns="0" rtlCol="0" anchor="t"/>
          <a:lstStyle/>
          <a:p>
            <a:pPr indent="0" marL="0">
              <a:buNone/>
            </a:pPr>
            <a:r>
              <a:rPr lang="en-US" sz="1400" dirty="0">
                <a:solidFill>
                  <a:schemeClr val="tx1"/>
                </a:solidFill>
              </a:rPr>
              <a:t>The StatefulSet carried the image SHA as a label. Version-free labels: app deploys no longer touch PostgreSQL.</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716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nchor="b"/>
          <a:lstStyle/>
          <a:p>
            <a:pPr algn="l" indent="0" marL="0">
              <a:buNone/>
            </a:pPr>
            <a:r>
              <a:rPr lang="en-US" sz="4800" b="1" dirty="0">
                <a:solidFill>
                  <a:schemeClr val="bg1"/>
                </a:solidFill>
              </a:rPr>
              <a:t>Key learnings</a:t>
            </a:r>
            <a:endParaRPr lang="en-US" sz="4800" dirty="0"/>
          </a:p>
        </p:txBody>
      </p:sp>
      <p:sp>
        <p:nvSpPr>
          <p:cNvPr id="3" name="Text 0"/>
          <p:cNvSpPr/>
          <p:nvPr>
            <p:ph idx="101" type="body" hasCustomPrompt="1"/>
          </p:nvPr>
        </p:nvSpPr>
        <p:spPr>
          <a:xfrm>
            <a:off x="731520" y="3200400"/>
            <a:ext cx="10698480" cy="822960"/>
          </a:xfrm>
          <a:prstGeom prst="rect">
            <a:avLst/>
          </a:prstGeom>
          <a:noFill/>
          <a:ln/>
        </p:spPr>
        <p:txBody>
          <a:bodyPr wrap="square" rtlCol="0" anchor="t"/>
          <a:lstStyle/>
          <a:p>
            <a:pPr algn="l" indent="0" marL="0">
              <a:buNone/>
            </a:pPr>
            <a:r>
              <a:rPr lang="en-US" sz="2200" dirty="0">
                <a:solidFill>
                  <a:srgbClr val="99F6E4"/>
                </a:solidFill>
              </a:rPr>
              <a:t>…and what I'd add for production</a:t>
            </a:r>
            <a:endParaRPr lang="en-US" sz="2200" dirty="0"/>
          </a:p>
        </p:txBody>
      </p:sp>
      <p:sp>
        <p:nvSpPr>
          <p:cNvPr id="4" name="Text 2"/>
          <p:cNvSpPr txBox="1"/>
          <p:nvPr/>
        </p:nvSpPr>
        <p:spPr>
          <a:xfrm>
            <a:off x="731520" y="4160520"/>
            <a:ext cx="5120640" cy="685800"/>
          </a:xfrm>
          <a:prstGeom prst="rect">
            <a:avLst/>
          </a:prstGeom>
          <a:noFill/>
          <a:ln/>
        </p:spPr>
        <p:txBody>
          <a:bodyPr wrap="square" lIns="0" tIns="0" rIns="0" bIns="0" rtlCol="0" anchor="t"/>
          <a:lstStyle/>
          <a:p>
            <a:pPr marL="342900" indent="-342900">
              <a:buSzPct val="100000"/>
              <a:buChar char="•"/>
            </a:pPr>
            <a:r>
              <a:rPr lang="en-US" sz="1500" dirty="0">
                <a:solidFill>
                  <a:srgbClr val="FFFFFF"/>
                </a:solidFill>
              </a:rPr>
              <a:t>Quality and security gates must run before an image can reach the registry</a:t>
            </a:r>
            <a:endParaRPr lang="en-US" sz="1500" dirty="0"/>
          </a:p>
        </p:txBody>
      </p:sp>
      <p:sp>
        <p:nvSpPr>
          <p:cNvPr id="5" name="Text 3"/>
          <p:cNvSpPr txBox="1"/>
          <p:nvPr/>
        </p:nvSpPr>
        <p:spPr>
          <a:xfrm>
            <a:off x="6217920" y="4160520"/>
            <a:ext cx="5120640" cy="685800"/>
          </a:xfrm>
          <a:prstGeom prst="rect">
            <a:avLst/>
          </a:prstGeom>
          <a:noFill/>
          <a:ln/>
        </p:spPr>
        <p:txBody>
          <a:bodyPr wrap="square" lIns="0" tIns="0" rIns="0" bIns="0" rtlCol="0" anchor="t"/>
          <a:lstStyle/>
          <a:p>
            <a:pPr marL="342900" indent="-342900">
              <a:buSzPct val="100000"/>
              <a:buChar char="•"/>
            </a:pPr>
            <a:r>
              <a:rPr lang="en-US" sz="1500" dirty="0">
                <a:solidFill>
                  <a:srgbClr val="FFFFFF"/>
                </a:solidFill>
              </a:rPr>
              <a:t>Readiness and liveness are different questions — and both matter in rollouts</a:t>
            </a:r>
            <a:endParaRPr lang="en-US" sz="1500" dirty="0"/>
          </a:p>
        </p:txBody>
      </p:sp>
      <p:sp>
        <p:nvSpPr>
          <p:cNvPr id="6" name="Text 4"/>
          <p:cNvSpPr txBox="1"/>
          <p:nvPr/>
        </p:nvSpPr>
        <p:spPr>
          <a:xfrm>
            <a:off x="731520" y="4937760"/>
            <a:ext cx="5120640" cy="685800"/>
          </a:xfrm>
          <a:prstGeom prst="rect">
            <a:avLst/>
          </a:prstGeom>
          <a:noFill/>
          <a:ln/>
        </p:spPr>
        <p:txBody>
          <a:bodyPr wrap="square" lIns="0" tIns="0" rIns="0" bIns="0" rtlCol="0" anchor="t"/>
          <a:lstStyle/>
          <a:p>
            <a:pPr marL="342900" indent="-342900">
              <a:buSzPct val="100000"/>
              <a:buChar char="•"/>
            </a:pPr>
            <a:r>
              <a:rPr lang="en-US" sz="1500" dirty="0">
                <a:solidFill>
                  <a:srgbClr val="FFFFFF"/>
                </a:solidFill>
              </a:rPr>
              <a:t>GitOps makes git the audit trail: every deploy is a commit, every rollback a revert</a:t>
            </a:r>
            <a:endParaRPr lang="en-US" sz="1500" dirty="0"/>
          </a:p>
        </p:txBody>
      </p:sp>
      <p:sp>
        <p:nvSpPr>
          <p:cNvPr id="7" name="Text 5"/>
          <p:cNvSpPr txBox="1"/>
          <p:nvPr/>
        </p:nvSpPr>
        <p:spPr>
          <a:xfrm>
            <a:off x="6217920" y="4937760"/>
            <a:ext cx="5120640" cy="685800"/>
          </a:xfrm>
          <a:prstGeom prst="rect">
            <a:avLst/>
          </a:prstGeom>
          <a:noFill/>
          <a:ln/>
        </p:spPr>
        <p:txBody>
          <a:bodyPr wrap="square" lIns="0" tIns="0" rIns="0" bIns="0" rtlCol="0" anchor="t"/>
          <a:lstStyle/>
          <a:p>
            <a:pPr marL="342900" indent="-342900">
              <a:buSzPct val="100000"/>
              <a:buChar char="•"/>
            </a:pPr>
            <a:r>
              <a:rPr lang="en-US" sz="1500" dirty="0">
                <a:solidFill>
                  <a:srgbClr val="FFFFFF"/>
                </a:solidFill>
              </a:rPr>
              <a:t>Cloud accounts have limits IAM can't fix — design around them in code</a:t>
            </a:r>
            <a:endParaRPr lang="en-US" sz="1500" dirty="0"/>
          </a:p>
        </p:txBody>
      </p:sp>
      <p:sp>
        <p:nvSpPr>
          <p:cNvPr id="8" name="Text 6"/>
          <p:cNvSpPr txBox="1"/>
          <p:nvPr/>
        </p:nvSpPr>
        <p:spPr>
          <a:xfrm>
            <a:off x="731520" y="5897880"/>
            <a:ext cx="10698480" cy="457200"/>
          </a:xfrm>
          <a:prstGeom prst="rect">
            <a:avLst/>
          </a:prstGeom>
          <a:noFill/>
          <a:ln/>
        </p:spPr>
        <p:txBody>
          <a:bodyPr wrap="square" lIns="0" tIns="0" rIns="0" bIns="0" rtlCol="0" anchor="t"/>
          <a:lstStyle/>
          <a:p>
            <a:pPr indent="0" marL="0">
              <a:buNone/>
            </a:pPr>
            <a:r>
              <a:rPr lang="en-US" sz="1400" dirty="0">
                <a:solidFill>
                  <a:srgbClr val="99F6E4"/>
                </a:solidFill>
              </a:rPr>
              <a:t>Next: Amazon RDS Multi-AZ · TLS with a domain and cert-manager · one NAT per AZ · Argo CD SSO · remote Terraform state</a:t>
            </a:r>
            <a:endParaRPr lang="en-US" sz="1400" dirty="0"/>
          </a:p>
        </p:txBody>
      </p:sp>
      <p:sp>
        <p:nvSpPr>
          <p:cNvPr id="9" name="icon-circle"/>
          <p:cNvSpPr/>
          <p:nvPr/>
        </p:nvSpPr>
        <p:spPr>
          <a:xfrm>
            <a:off x="731520" y="731520"/>
            <a:ext cx="822960" cy="822960"/>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1"/>
          <a:stretch>
            <a:fillRect/>
          </a:stretch>
        </p:blipFill>
        <p:spPr>
          <a:xfrm>
            <a:off x="929030" y="929030"/>
            <a:ext cx="427939" cy="427939"/>
          </a:xfrm>
          <a:prstGeom prst="rect">
            <a:avLst/>
          </a:prstGeom>
        </p:spPr>
      </p:pic>
    </p:spTree>
  </p:cSld>
  <p:clrMapOvr>
    <a:masterClrMapping/>
  </p:clrMapOvr>
</p:sld>
</file>

<file path=ppt/theme/theme1.xml><?xml version="1.0" encoding="utf-8"?>
<a:theme xmlns:a="http://schemas.openxmlformats.org/drawingml/2006/main" name="ClinicFlow Teal">
  <a:themeElements>
    <a:clrScheme name="ClinicFlow Teal">
      <a:dk1>
        <a:srgbClr val="102A26"/>
      </a:dk1>
      <a:lt1>
        <a:srgbClr val="FFFFFF"/>
      </a:lt1>
      <a:dk2>
        <a:srgbClr val="0B2B29"/>
      </a:dk2>
      <a:lt2>
        <a:srgbClr val="EEF5F3"/>
      </a:lt2>
      <a:accent1>
        <a:srgbClr val="0F766E"/>
      </a:accent1>
      <a:accent2>
        <a:srgbClr val="14B8A6"/>
      </a:accent2>
      <a:accent3>
        <a:srgbClr val="F59E0B"/>
      </a:accent3>
      <a:accent4>
        <a:srgbClr val="3B82F6"/>
      </a:accent4>
      <a:accent5>
        <a:srgbClr val="B42318"/>
      </a:accent5>
      <a:accent6>
        <a:srgbClr val="22C55E"/>
      </a:accent6>
      <a:hlink>
        <a:srgbClr val="0F766E"/>
      </a:hlink>
      <a:folHlink>
        <a:srgbClr val="5D716D"/>
      </a:folHlink>
    </a:clrScheme>
    <a:fontScheme name="ClinicFlow Te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ClinicFlow - DevOps Capstone</dc:title>
  <dc:subject>Clinic appointment booking from laptop to monitored EKS</dc:subject>
  <dc:creator>Ankit Kumar</dc:creator>
  <cp:lastModifiedBy>Ankit Kumar</cp:lastModifiedBy>
  <cp:revision>1</cp:revision>
  <dcterms:created xsi:type="dcterms:W3CDTF">2026-10-16T19:10:24Z</dcterms:created>
  <dcterms:modified xsi:type="dcterms:W3CDTF">2026-10-16T19:10:24Z</dcterms:modified>
</cp:coreProperties>
</file>